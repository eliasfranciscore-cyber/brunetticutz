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hablar: 3 segundos de silencio mirando la sala. No empieces con 'hola, soy'. Empieza con la frase.
La foto es tu credibilidad visual: esto lo dice alguien que corta de verdad.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Dila lento y déjala caer 3 segundos. No la expliques de inmediato — deja el silencio.
Después de la pausa, la bajada. Ahí recién arranca el contenido.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$2.100.000 salen de 100 clientes × $21.000, un corte al mes cada uno. Dilo — si no explicas el supuesto, alguien lo va a cuestionar y pierdes el momento.
El punto: no es seguidores. Es conversión.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Promete poco y concreto. No leas los 6 puntos con detalle: nómbralos.
Marca el bloque del corte en vivo: es el único donde no hablas tú, y es donde ellos van a trabajar. Deja dicho desde ya que en ese bloque se graba.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a la sala: '¿cuántos eligieron alguna vez un barbero específico porque ese es el que me entiende?'
Espera las manos. Eso es valer más: no es la tijera, es la percepción.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Cita a Hormozi por nombre: da autoridad.
El punto: la percepción se construye, no se nace con ella. Tu Instagram es la percepción que el cliente tiene de ti ANTES del corte.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marca personal con la frase central. Después el nicho: cuando le hablas a todos, no le hablas a nadie.
Pídeles que piensen su nicho ahora, en voz baja. Lo van a escribir en el ejercicio.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Cuenta tu propia historia acá, corta: dos minutos, no más. Es el momento del día en que la sala se conecta contigo.
Después pásales las cuatro preguntas para que armen la suya.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Traducción concreta: mostrar resultados y explicar antes de cortar suben el numerador; reserva online y puntualidad bajan el denominador.
Ninguna de las cuatro palancas es 'cortar mejor'.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 que los márgenes son de referencia y no descuentan arriendo ni sueldos.
La membresía es la joya: ingreso predecible todos los meses, sin depender del clima ni del algoritmo.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minutos reales, con cronómetro. Después leen tres en voz alta, no más.
La frase les sirve para dos cosas: la bio de Instagram y presentarse. Díselo — le da sentido al ejercicio.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Bisagra de todo el workshop: conecta valer más con visibilidad. De nada sirve valer si nadie te ve.
Antes de la próxima slide: 'saquen el teléfono, abran su último video, pónganlo en silencio. ¿Se entiende?'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hook es el PRIMER SEGUNDO que detiene el scroll. Se entiende SIN AUDIO.
Recorre los 4 rápido y pide a la sala un ejemplo de cada uno con sus propios clientes. Anota los de dolor en la pizarra: son el ejercicio.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Pídeles que identifiquen de qué tipo fue el último video que subieron.
Casi todos van a decir educación. Ese es el diagnóstico: educan pero no se comparten.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dos números que hay que dejar clavados son el 7 y el 6.
El 7: apareces 7 veces antes de resultar familiar. El 6: seis meses en un nicho antes de juzgar si funciona.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saves mandan. Es la métrica que más subestiman.
Cierre del bloque: 'no publiquen más. Publiquen mejor.'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Escribe todo en la pizarra y déjalo visible el resto del día. Es el banco de ideas del grupo.
Si la sala está fría, empieza tú con un ejemplo tuyo — pero uno solo, después cállate.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herramienta con la que se van a ir. Antes de gastar tiempo grabando, puntúa la idea.
Si no llega, no la grabes: rediséñala.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cada criterio como una pregunta de sí/no que puntúan del 0 al 10.
No expliques demasiado: el ejercicio siguiente lo enseña mejor que tú.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regla de decisión. Lo importante no es el número: es que la calculadora te ahorra grabar lo que no iba a funcionar.
Por qué el tutorial baja: no tiene controversia y no le interesa a 50 de 100.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Elige una idea mala a propósito para la tercera. Ver una idea subir de 4.5 a 8.0 con dos cambios enseña más que ver tres ideas buenas.
Cierra con la predicción: '¿cuál de las 3 creen que va a funcionar mejor?' Votan. Se revisa en el grupo de WhatsApp.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Presentas al invitado EN VOZ (no está en la slide). Dices qué va a mostrar y te corres del medio.
Antes de dejarle el espacio, deja la próxima slide proyectada: es el reparto de planos. Que quede en pantalla todo el bloque.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Reparte los 7 planos ANTES de que el invitado empiece. Nómbralos uno por uno señalando a quién le toca.
Insiste en vertical 9:16 aunque el plano parezca pedir horizontal: es el error más común.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Tú también grabas: eres el ejemplo. Y circula por la sala para corregir encuadres.
El error que más vas a ver: horizontal, y grabar una sola toma larga en vez de muchas cortas.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Ahora lo técnico y lo más accionable. Ya tienen el material del corte en vivo: acá aprenden a darle forma.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slide que más van a querer fotografiar. Anúncialo y dales 5 segundos.
Después mapea los clips que acaban de grabar contra las 4 partes: ¿cuál es tu hook? ¿tienes reveal para el valor?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Rota entre los 5. El error típico es hacer solo antes/después hasta quemarlo.
Los dos últimos casi no requieren guion: son los que pueden grabar mañana.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preguntas respondidas en orden = un video viral. Es el framework más accionable del día después de la calculadora.
Que escriban las 5 de su idea ahora mismo, en el margen de la hoja.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paso 1 es el que todos se saltan y el que más importa: la mayoría importa todo y después no puede decidir.
La herramienta no hace el video. La idea lo hace.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 por la sala. La corrección más frecuente: el hook es demasiado largo. Si a los 3 segundos no pasó nada, se corta.
Los que terminan antes ayudan a los que van atrasados: eso arma la comunidad.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'10.000 seguidores. Cero clientes. ¿A cuántos les suena?'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punto débil de TODO barbero es el paso 4.
Acá se para la clase: teléfono en mano, dos minutos, todos arreglan la bio. No es tarea.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ejercicio de mayor impacto por minuto de todo el día.
Que levanten el teléfono y lo hagan ahora. Anda revisando que lo hagan de verdad.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el script en voz alta, tal cual. Que lo copien palabra por palabra — después lo adaptan.
El detalle que hace la diferencia son los dos horarios cerrados. '¿Cuándo te queda bien?' abre una conversación de diez mensajes que termina en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slide que cambia mentalidades. Demuéstralo con números, no con entusiasmo.
El recomendado ya llegó con la confianza construida: ya pagó, ya fue, ya confía.
OJO: antes de prometer 'X referencias = corte gratis', chequea que calce con la tarjeta de fidelidad de Brunetti (10 estrellas = corte gratis).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primera es la más fácil y la que nadie hace: preguntarle a cada cliente nuevo de dónde salió.
Sin ese dato no sabes qué video funcionó de verdad.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 publiquen EN LA SALA, no después. El que sale por la puerta sin publicar, no publica.
Mientras suben, anota quién publicó — sirve para el seguimiento en el grupo.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uno completa la frase en voz alta. Uno por uno, rápido, sin comentarios.
El compromiso público es lo que hace que el video efectivamente se publique.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Foto grupal para cerrar con energía. Que saquen la foto ellos también — es contenido, y arranca el concurso.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2.png"/><Relationship Id="rId5" Type="http://schemas.openxmlformats.org/officeDocument/2006/relationships/image" Target="../media/image-8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image" Target="../media/image-3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image" Target="../media/image-3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image" Target="../media/image-3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jp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image" Target="../media/image-3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lija/Documents/GitHub/BRUNETTICUTZ/workshop/assets/bruno-presenta-limpi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19695" y="0"/>
            <a:ext cx="4572000" cy="6858000"/>
          </a:xfrm>
          <a:prstGeom prst="rect">
            <a:avLst/>
          </a:prstGeom>
        </p:spPr>
      </p:pic>
      <p:pic>
        <p:nvPicPr>
          <p:cNvPr id="3" name="Image 1" descr="/Users/elija/Documents/GitHub/BRUNETTICUTZ/workshop/assets/logo-ascension-cla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58368"/>
            <a:ext cx="1068846" cy="10515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66928" y="2103120"/>
            <a:ext cx="63029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80" kern="0" dirty="0">
                <a:solidFill>
                  <a:srgbClr val="A98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 DE BARBEROS · 6 HORAS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566928" y="2697480"/>
            <a:ext cx="6302959" cy="2090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5200" b="1" spc="-9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barbero</a:t>
            </a:r>
            <a:endParaRPr lang="en-US" sz="5200" dirty="0"/>
          </a:p>
          <a:p>
            <a:pPr algn="l" indent="0" marL="0">
              <a:lnSpc>
                <a:spcPts val="5200"/>
              </a:lnSpc>
              <a:buNone/>
            </a:pPr>
            <a:r>
              <a:rPr lang="en-US" sz="5200" b="1" spc="-9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cobra</a:t>
            </a:r>
            <a:endParaRPr lang="en-US" sz="5200" dirty="0"/>
          </a:p>
          <a:p>
            <a:pPr algn="l" indent="0" marL="0">
              <a:lnSpc>
                <a:spcPts val="5200"/>
              </a:lnSpc>
              <a:buNone/>
            </a:pPr>
            <a:r>
              <a:rPr lang="en-US" sz="5200" b="1" spc="-90" kern="0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vale.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5596128"/>
            <a:ext cx="6302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Bruno Herrera · Brunetticutz</a:t>
            </a:r>
            <a:endParaRPr lang="en-US" sz="1350" dirty="0"/>
          </a:p>
        </p:txBody>
      </p:sp>
      <p:sp>
        <p:nvSpPr>
          <p:cNvPr id="7" name="Text 3"/>
          <p:cNvSpPr txBox="1"/>
          <p:nvPr/>
        </p:nvSpPr>
        <p:spPr>
          <a:xfrm>
            <a:off x="566928" y="5925312"/>
            <a:ext cx="6302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9A8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Valer más  ·  Viralidad  ·  Clientes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8C3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TESIS DEL DÍA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828800"/>
            <a:ext cx="11057839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68"/>
              </a:lnSpc>
              <a:buNone/>
            </a:pPr>
            <a:r>
              <a:rPr lang="en-US" sz="4600" b="1" spc="-9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no vienes a aprender</a:t>
            </a:r>
            <a:endParaRPr lang="en-US" sz="4600" dirty="0"/>
          </a:p>
          <a:p>
            <a:pPr algn="l" indent="0" marL="0">
              <a:lnSpc>
                <a:spcPts val="4968"/>
              </a:lnSpc>
              <a:buNone/>
            </a:pPr>
            <a:r>
              <a:rPr lang="en-US" sz="4600" b="1" spc="-9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cortar mejor.</a:t>
            </a:r>
            <a:endParaRPr lang="en-US" sz="4600" dirty="0"/>
          </a:p>
          <a:p>
            <a:pPr algn="l" indent="0" marL="0">
              <a:lnSpc>
                <a:spcPts val="4968"/>
              </a:lnSpc>
              <a:buNone/>
            </a:pPr>
            <a:r>
              <a:rPr lang="en-US" sz="4600" b="1" spc="-90" kern="0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Vienes a valer más.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526280"/>
            <a:ext cx="68558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mercado no paga por lo que sabes. Paga por lo que percibe. Si nadie sabe que eres bueno, para ellos no lo eres.</a:t>
            </a:r>
            <a:endParaRPr lang="en-US" sz="1600" dirty="0"/>
          </a:p>
        </p:txBody>
      </p:sp>
      <p:pic>
        <p:nvPicPr>
          <p:cNvPr id="5" name="Image 0" descr="/Users/elija/Documents/GitHub/BRUNETTICUTZ/workshop/assets/logo-brunetti-mor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199632"/>
            <a:ext cx="968121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095848" y="6199632"/>
            <a:ext cx="552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ASCENSIÓN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8C3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PROBLEMA REAL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201632" y="402336"/>
            <a:ext cx="442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Audiencia ≠ conversión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43000"/>
            <a:ext cx="11057839" cy="998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98"/>
              </a:lnSpc>
              <a:buNone/>
            </a:pPr>
            <a:r>
              <a:rPr lang="en-US" sz="3300" b="1" spc="-9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Muchos barberos generan vistas.</a:t>
            </a:r>
            <a:endParaRPr lang="en-US" sz="3300" dirty="0"/>
          </a:p>
          <a:p>
            <a:pPr algn="l" indent="0" marL="0">
              <a:lnSpc>
                <a:spcPts val="3498"/>
              </a:lnSpc>
              <a:buNone/>
            </a:pPr>
            <a:r>
              <a:rPr lang="en-US" sz="3300" b="1" spc="-90" kern="0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cero clientes.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286000"/>
            <a:ext cx="375966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tienen sistema. Sin sistema, los seguidores son solo un número bonito en la pantalla.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68907" y="2057400"/>
            <a:ext cx="3290770" cy="2743200"/>
          </a:xfrm>
          <a:prstGeom prst="rect">
            <a:avLst/>
          </a:prstGeom>
          <a:solidFill>
            <a:srgbClr val="16111E"/>
          </a:solidFill>
          <a:ln w="12700">
            <a:solidFill>
              <a:srgbClr val="16111E"/>
            </a:solidFill>
            <a:prstDash val="solid"/>
          </a:ln>
        </p:spPr>
      </p:sp>
      <p:pic>
        <p:nvPicPr>
          <p:cNvPr id="7" name="Image 0" descr="/Users/elija/Documents/GitHub/BRUNETTICUTZ/workshop/assets/icons/cruz-cre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3247" y="2455164"/>
            <a:ext cx="210312" cy="2103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646731" y="2331720"/>
            <a:ext cx="2102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A8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ES ESTO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5079803" y="3017520"/>
            <a:ext cx="26689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8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10.000</a:t>
            </a:r>
            <a:endParaRPr lang="en-US" sz="5400" dirty="0"/>
          </a:p>
        </p:txBody>
      </p:sp>
      <p:sp>
        <p:nvSpPr>
          <p:cNvPr id="10" name="Text 7"/>
          <p:cNvSpPr txBox="1"/>
          <p:nvPr/>
        </p:nvSpPr>
        <p:spPr>
          <a:xfrm>
            <a:off x="5079803" y="3913632"/>
            <a:ext cx="26689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seguidores sin conversión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079803" y="4206240"/>
            <a:ext cx="2668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$0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8333997" y="2057400"/>
            <a:ext cx="3290770" cy="2743200"/>
          </a:xfrm>
          <a:prstGeom prst="rect">
            <a:avLst/>
          </a:prstGeom>
          <a:solidFill>
            <a:srgbClr val="8C3FDB"/>
          </a:solidFill>
          <a:ln w="12700">
            <a:solidFill>
              <a:srgbClr val="8C3FDB"/>
            </a:solidFill>
            <a:prstDash val="solid"/>
          </a:ln>
        </p:spPr>
      </p:sp>
      <p:pic>
        <p:nvPicPr>
          <p:cNvPr id="13" name="Image 1" descr="/Users/elija/Documents/GitHub/BRUNETTICUTZ/workshop/assets/icons/check-bl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8337" y="2455164"/>
            <a:ext cx="210312" cy="21031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9211821" y="2331720"/>
            <a:ext cx="2102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6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 ESTO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8644893" y="3017520"/>
            <a:ext cx="26689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5400" dirty="0"/>
          </a:p>
        </p:txBody>
      </p:sp>
      <p:sp>
        <p:nvSpPr>
          <p:cNvPr id="16" name="Text 12"/>
          <p:cNvSpPr txBox="1"/>
          <p:nvPr/>
        </p:nvSpPr>
        <p:spPr>
          <a:xfrm>
            <a:off x="8644893" y="3913632"/>
            <a:ext cx="26689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reales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8644893" y="4206240"/>
            <a:ext cx="2668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$2.100.000 al mes</a:t>
            </a:r>
            <a:endParaRPr lang="en-US" sz="2000" dirty="0"/>
          </a:p>
        </p:txBody>
      </p:sp>
      <p:pic>
        <p:nvPicPr>
          <p:cNvPr id="18" name="Image 2" descr="/Users/elija/Documents/GitHub/BRUNETTICUTZ/workshop/assets/logo-brunetti-morad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199632"/>
            <a:ext cx="968121" cy="2377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095848" y="6199632"/>
            <a:ext cx="552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ASCENSIÓN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8C3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DÍA DE HOY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201632" y="402336"/>
            <a:ext cx="442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285 min de contenido + 75 de pausas = 6 horas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57839" cy="640080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1362456"/>
            <a:ext cx="512064" cy="512064"/>
          </a:xfrm>
          <a:prstGeom prst="ellipse">
            <a:avLst/>
          </a:prstGeom>
          <a:solidFill>
            <a:srgbClr val="F4F0E8"/>
          </a:solidFill>
          <a:ln w="12700">
            <a:solidFill>
              <a:srgbClr val="F4F0E8"/>
            </a:solidFill>
            <a:prstDash val="solid"/>
          </a:ln>
        </p:spPr>
      </p:sp>
      <p:pic>
        <p:nvPicPr>
          <p:cNvPr id="6" name="Image 0" descr="/Users/elija/Documents/GitHub/BRUNETTICUTZ/workshop/assets/icons/estrella-mor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793" y="1500713"/>
            <a:ext cx="235549" cy="23554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72768" y="129844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2231136" y="1298448"/>
            <a:ext cx="48654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Valer más frente a tus clientes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6095848" y="1298448"/>
            <a:ext cx="5218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· precio · 45 min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057400"/>
            <a:ext cx="11057839" cy="640080"/>
          </a:xfrm>
          <a:prstGeom prst="rect">
            <a:avLst/>
          </a:prstGeom>
          <a:solidFill>
            <a:srgbClr val="F4F0E8"/>
          </a:solidFill>
          <a:ln w="12700">
            <a:solidFill>
              <a:srgbClr val="F4F0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9536" y="2121408"/>
            <a:ext cx="512064" cy="512064"/>
          </a:xfrm>
          <a:prstGeom prst="ellipse">
            <a:avLst/>
          </a:prstGeom>
          <a:solidFill>
            <a:srgbClr val="F4F0E8"/>
          </a:solidFill>
          <a:ln w="12700">
            <a:solidFill>
              <a:srgbClr val="F4F0E8"/>
            </a:solidFill>
            <a:prstDash val="solid"/>
          </a:ln>
        </p:spPr>
      </p:sp>
      <p:pic>
        <p:nvPicPr>
          <p:cNvPr id="12" name="Image 1" descr="/Users/elija/Documents/GitHub/BRUNETTICUTZ/workshop/assets/icons/rayo-mora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793" y="2259665"/>
            <a:ext cx="235549" cy="23554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72768" y="20574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2231136" y="2057400"/>
            <a:ext cx="48654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crear ideas virales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6095848" y="2057400"/>
            <a:ext cx="5218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 · EYE · 45 min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66928" y="2816352"/>
            <a:ext cx="11057839" cy="640080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59536" y="2880360"/>
            <a:ext cx="512064" cy="512064"/>
          </a:xfrm>
          <a:prstGeom prst="ellipse">
            <a:avLst/>
          </a:prstGeom>
          <a:solidFill>
            <a:srgbClr val="F4F0E8"/>
          </a:solidFill>
          <a:ln w="12700">
            <a:solidFill>
              <a:srgbClr val="F4F0E8"/>
            </a:solidFill>
            <a:prstDash val="solid"/>
          </a:ln>
        </p:spPr>
      </p:sp>
      <p:pic>
        <p:nvPicPr>
          <p:cNvPr id="18" name="Image 2" descr="/Users/elija/Documents/GitHub/BRUNETTICUTZ/workshop/assets/icons/ajustes-morad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793" y="3018617"/>
            <a:ext cx="235549" cy="23554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72768" y="2816352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2231136" y="2816352"/>
            <a:ext cx="48654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calculadora de viralidad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6095848" y="2816352"/>
            <a:ext cx="5218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Evalúa antes de grabar · 30 min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566928" y="3575304"/>
            <a:ext cx="11057839" cy="640080"/>
          </a:xfrm>
          <a:prstGeom prst="rect">
            <a:avLst/>
          </a:prstGeom>
          <a:solidFill>
            <a:srgbClr val="16111E"/>
          </a:solidFill>
          <a:ln w="12700">
            <a:solidFill>
              <a:srgbClr val="16111E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59536" y="3639312"/>
            <a:ext cx="512064" cy="512064"/>
          </a:xfrm>
          <a:prstGeom prst="ellipse">
            <a:avLst/>
          </a:prstGeom>
          <a:solidFill>
            <a:srgbClr val="8C3FDB"/>
          </a:solidFill>
          <a:ln w="12700">
            <a:solidFill>
              <a:srgbClr val="8C3FDB"/>
            </a:solidFill>
            <a:prstDash val="solid"/>
          </a:ln>
        </p:spPr>
      </p:sp>
      <p:pic>
        <p:nvPicPr>
          <p:cNvPr id="24" name="Image 3" descr="/Users/elija/Documents/GitHub/BRUNETTICUTZ/workshop/assets/icons/tijera-blanc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793" y="3777569"/>
            <a:ext cx="235549" cy="235549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572768" y="3575304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8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2231136" y="3575304"/>
            <a:ext cx="48654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-3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 en vivo · invitado especial</a:t>
            </a:r>
            <a:endParaRPr lang="en-US" sz="1900" dirty="0"/>
          </a:p>
        </p:txBody>
      </p:sp>
      <p:sp>
        <p:nvSpPr>
          <p:cNvPr id="27" name="Text 21"/>
          <p:cNvSpPr txBox="1"/>
          <p:nvPr/>
        </p:nvSpPr>
        <p:spPr>
          <a:xfrm>
            <a:off x="6095848" y="3575304"/>
            <a:ext cx="5218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A98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la sala graba · 60 min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566928" y="4334256"/>
            <a:ext cx="11057839" cy="640080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59536" y="4398264"/>
            <a:ext cx="512064" cy="512064"/>
          </a:xfrm>
          <a:prstGeom prst="ellipse">
            <a:avLst/>
          </a:prstGeom>
          <a:solidFill>
            <a:srgbClr val="F4F0E8"/>
          </a:solidFill>
          <a:ln w="12700">
            <a:solidFill>
              <a:srgbClr val="F4F0E8"/>
            </a:solidFill>
            <a:prstDash val="solid"/>
          </a:ln>
        </p:spPr>
      </p:sp>
      <p:pic>
        <p:nvPicPr>
          <p:cNvPr id="30" name="Image 4" descr="/Users/elija/Documents/GitHub/BRUNETTICUTZ/workshop/assets/icons/capas-morad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793" y="4536521"/>
            <a:ext cx="235549" cy="235549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572768" y="4334256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2231136" y="4334256"/>
            <a:ext cx="48654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estructura y la edición</a:t>
            </a:r>
            <a:endParaRPr lang="en-US" sz="1900" dirty="0"/>
          </a:p>
        </p:txBody>
      </p:sp>
      <p:sp>
        <p:nvSpPr>
          <p:cNvPr id="33" name="Text 26"/>
          <p:cNvSpPr txBox="1"/>
          <p:nvPr/>
        </p:nvSpPr>
        <p:spPr>
          <a:xfrm>
            <a:off x="6095848" y="4334256"/>
            <a:ext cx="5218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s · sprint en CapCut · 75 min</a:t>
            </a:r>
            <a:endParaRPr lang="en-US" sz="1350" dirty="0"/>
          </a:p>
        </p:txBody>
      </p:sp>
      <p:sp>
        <p:nvSpPr>
          <p:cNvPr id="34" name="Shape 27"/>
          <p:cNvSpPr/>
          <p:nvPr/>
        </p:nvSpPr>
        <p:spPr>
          <a:xfrm>
            <a:off x="566928" y="5093208"/>
            <a:ext cx="11057839" cy="640080"/>
          </a:xfrm>
          <a:prstGeom prst="rect">
            <a:avLst/>
          </a:prstGeom>
          <a:solidFill>
            <a:srgbClr val="F4F0E8"/>
          </a:solidFill>
          <a:ln w="12700">
            <a:solidFill>
              <a:srgbClr val="F4F0E8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859536" y="5157216"/>
            <a:ext cx="512064" cy="512064"/>
          </a:xfrm>
          <a:prstGeom prst="ellipse">
            <a:avLst/>
          </a:prstGeom>
          <a:solidFill>
            <a:srgbClr val="F4F0E8"/>
          </a:solidFill>
          <a:ln w="12700">
            <a:solidFill>
              <a:srgbClr val="F4F0E8"/>
            </a:solidFill>
            <a:prstDash val="solid"/>
          </a:ln>
        </p:spPr>
      </p:sp>
      <p:pic>
        <p:nvPicPr>
          <p:cNvPr id="36" name="Image 5" descr="/Users/elija/Documents/GitHub/BRUNETTICUTZ/workshop/assets/icons/chat-morad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793" y="5295473"/>
            <a:ext cx="235549" cy="235549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572768" y="509320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38" name="Text 30"/>
          <p:cNvSpPr txBox="1"/>
          <p:nvPr/>
        </p:nvSpPr>
        <p:spPr>
          <a:xfrm>
            <a:off x="2231136" y="5093208"/>
            <a:ext cx="48654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scroll a la silla</a:t>
            </a:r>
            <a:endParaRPr lang="en-US" sz="1900" dirty="0"/>
          </a:p>
        </p:txBody>
      </p:sp>
      <p:sp>
        <p:nvSpPr>
          <p:cNvPr id="39" name="Text 31"/>
          <p:cNvSpPr txBox="1"/>
          <p:nvPr/>
        </p:nvSpPr>
        <p:spPr>
          <a:xfrm>
            <a:off x="6095848" y="5093208"/>
            <a:ext cx="5218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Embudo · WhatsApp · clientes · 30 min</a:t>
            </a:r>
            <a:endParaRPr lang="en-US" sz="1350" dirty="0"/>
          </a:p>
        </p:txBody>
      </p:sp>
      <p:pic>
        <p:nvPicPr>
          <p:cNvPr id="40" name="Image 6" descr="/Users/elija/Documents/GitHub/BRUNETTICUTZ/workshop/assets/logo-brunetti-morad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6199632"/>
            <a:ext cx="968121" cy="237744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6095848" y="6199632"/>
            <a:ext cx="552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ASCENSIÓN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lija/Documents/GitHub/BRUNETTICUTZ/workshop/assets/bruno-cortand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68335" y="0"/>
            <a:ext cx="4023360" cy="6858000"/>
          </a:xfrm>
          <a:prstGeom prst="rect">
            <a:avLst/>
          </a:prstGeom>
        </p:spPr>
      </p:pic>
      <p:pic>
        <p:nvPicPr>
          <p:cNvPr id="3" name="Image 1" descr="/Users/elija/Documents/GitHub/BRUNETTICUTZ/workshop/assets/logo-ascension-cla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448" y="566928"/>
            <a:ext cx="882960" cy="8686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66928" y="658368"/>
            <a:ext cx="57543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A98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01</a:t>
            </a:r>
            <a:endParaRPr lang="en-US" sz="1150" dirty="0"/>
          </a:p>
        </p:txBody>
      </p:sp>
      <p:sp>
        <p:nvSpPr>
          <p:cNvPr id="5" name="Text 1"/>
          <p:cNvSpPr txBox="1"/>
          <p:nvPr/>
        </p:nvSpPr>
        <p:spPr>
          <a:xfrm>
            <a:off x="566928" y="2286000"/>
            <a:ext cx="7034479" cy="204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00"/>
              </a:lnSpc>
              <a:buNone/>
            </a:pPr>
            <a:r>
              <a:rPr lang="en-US" sz="7600" b="1" spc="-9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Valer</a:t>
            </a:r>
            <a:endParaRPr lang="en-US" sz="7600" dirty="0"/>
          </a:p>
          <a:p>
            <a:pPr algn="l" indent="0" marL="0">
              <a:lnSpc>
                <a:spcPts val="7600"/>
              </a:lnSpc>
              <a:buNone/>
            </a:pPr>
            <a:r>
              <a:rPr lang="en-US" sz="7600" b="1" spc="-90" kern="0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más.</a:t>
            </a:r>
            <a:endParaRPr lang="en-US" sz="760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5285232"/>
            <a:ext cx="703447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barberos con la misma técnica. Uno cobra el doble. La diferencia no está en la tijera — está en cómo lo perciben antes de sentarse.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lija/Documents/GitHub/BRUNETTICUTZ/workshop/assets/bruno-pantalla-limpi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53935" y="0"/>
            <a:ext cx="493776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402336"/>
            <a:ext cx="59371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8C3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01 · MARCA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1280160"/>
            <a:ext cx="5937199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6"/>
              </a:lnSpc>
              <a:buNone/>
            </a:pPr>
            <a:r>
              <a:rPr lang="en-US" sz="3600" b="1" spc="-9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Percepción</a:t>
            </a:r>
            <a:endParaRPr lang="en-US" sz="3600" dirty="0"/>
          </a:p>
          <a:p>
            <a:pPr algn="l" indent="0" marL="0">
              <a:lnSpc>
                <a:spcPts val="3816"/>
              </a:lnSpc>
              <a:buNone/>
            </a:pPr>
            <a:r>
              <a:rPr lang="en-US" sz="3600" b="1" spc="-90" kern="0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habilidad.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243230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66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3246120"/>
            <a:ext cx="59371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i="1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mercado no paga por lo que sabes. Paga por lo que percibe.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3950208"/>
            <a:ext cx="59371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Alex Hormozi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66928" y="4956048"/>
            <a:ext cx="420624" cy="420624"/>
          </a:xfrm>
          <a:prstGeom prst="ellipse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pic>
        <p:nvPicPr>
          <p:cNvPr id="9" name="Image 1" descr="/Users/elija/Documents/GitHub/BRUNETTICUTZ/workshop/assets/icons/ojo-mora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96" y="5069616"/>
            <a:ext cx="193487" cy="19348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07008" y="4882896"/>
            <a:ext cx="52971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i="1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Instagram es la percepción que el cliente tiene de ti antes del corte.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8C3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01 · MARCA PERSONAL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88720"/>
            <a:ext cx="11057839" cy="944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6"/>
              </a:lnSpc>
              <a:buNone/>
            </a:pPr>
            <a:r>
              <a:rPr lang="en-US" sz="3100" b="1" spc="-9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marca es lo que dicen de ti</a:t>
            </a:r>
            <a:endParaRPr lang="en-US" sz="3100" dirty="0"/>
          </a:p>
          <a:p>
            <a:pPr algn="l" indent="0" marL="0">
              <a:lnSpc>
                <a:spcPts val="3286"/>
              </a:lnSpc>
              <a:buNone/>
            </a:pPr>
            <a:r>
              <a:rPr lang="en-US" sz="3100" b="1" spc="-90" kern="0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no estás en la sala.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2697480"/>
            <a:ext cx="3515258" cy="1874520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pic>
        <p:nvPicPr>
          <p:cNvPr id="5" name="Image 0" descr="/Users/elija/Documents/GitHub/BRUNETTICUTZ/workshop/assets/icons/cruz-mor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3067812"/>
            <a:ext cx="210312" cy="2103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26464" y="2944368"/>
            <a:ext cx="23631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es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859536" y="3584448"/>
            <a:ext cx="293004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logo ni tus seguidores.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338218" y="2697480"/>
            <a:ext cx="3515258" cy="1874520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pic>
        <p:nvPicPr>
          <p:cNvPr id="9" name="Image 1" descr="/Users/elija/Documents/GitHub/BRUNETTICUTZ/workshop/assets/icons/estrella-mora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270" y="3067812"/>
            <a:ext cx="210312" cy="2103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197754" y="2944368"/>
            <a:ext cx="23631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4630826" y="3584448"/>
            <a:ext cx="293004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reputación, corte a corte.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8109509" y="2697480"/>
            <a:ext cx="3515258" cy="1874520"/>
          </a:xfrm>
          <a:prstGeom prst="rect">
            <a:avLst/>
          </a:prstGeom>
          <a:solidFill>
            <a:srgbClr val="16111E"/>
          </a:solidFill>
          <a:ln w="12700">
            <a:solidFill>
              <a:srgbClr val="16111E"/>
            </a:solidFill>
            <a:prstDash val="solid"/>
          </a:ln>
        </p:spPr>
      </p:sp>
      <p:pic>
        <p:nvPicPr>
          <p:cNvPr id="13" name="Image 2" descr="/Users/elija/Documents/GitHub/BRUNETTICUTZ/workshop/assets/icons/diana-lil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561" y="3067812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969045" y="2944368"/>
            <a:ext cx="23631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A98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nicho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8402117" y="3584448"/>
            <a:ext cx="293004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Especialízate y te buscan a ti.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566928" y="489204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Intentar servir a todos te hace invisible. Ejecutivos, fades urbanos, home studio premium, barba. Elige uno.</a:t>
            </a:r>
            <a:endParaRPr lang="en-US" sz="1400" dirty="0"/>
          </a:p>
        </p:txBody>
      </p:sp>
      <p:pic>
        <p:nvPicPr>
          <p:cNvPr id="17" name="Image 3" descr="/Users/elija/Documents/GitHub/BRUNETTICUTZ/workshop/assets/logo-brunetti-morad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199632"/>
            <a:ext cx="968121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095848" y="6199632"/>
            <a:ext cx="552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1 / 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lija/Documents/GitHub/BRUNETTICUTZ/workshop/assets/barbero-tijer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20624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709160" y="402336"/>
            <a:ext cx="69156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8C3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01 · TU HISTORIA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709160" y="1280160"/>
            <a:ext cx="6915607" cy="91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80"/>
              </a:lnSpc>
              <a:buNone/>
            </a:pPr>
            <a:r>
              <a:rPr lang="en-US" sz="3000" b="1" spc="-9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gente no compra servicios.</a:t>
            </a:r>
            <a:endParaRPr lang="en-US" sz="3000" dirty="0"/>
          </a:p>
          <a:p>
            <a:pPr algn="l" indent="0" marL="0">
              <a:lnSpc>
                <a:spcPts val="3180"/>
              </a:lnSpc>
              <a:buNone/>
            </a:pPr>
            <a:r>
              <a:rPr lang="en-US" sz="3000" b="1" spc="-90" kern="0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 personas.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4709160" y="2514600"/>
            <a:ext cx="691560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i="1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cuento mi historia, bajo la guardia del cliente. Dejo de ser el que corta el pelo y me convierto en alguien con propósito. Ese cliente me recomienda con orgullo.</a:t>
            </a:r>
            <a:endParaRPr lang="en-US" sz="1500" dirty="0"/>
          </a:p>
        </p:txBody>
      </p:sp>
      <p:pic>
        <p:nvPicPr>
          <p:cNvPr id="6" name="Image 1" descr="/Users/elija/Documents/GitHub/BRUNETTICUTZ/workshop/assets/icons/flecha-mora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15" y="3884371"/>
            <a:ext cx="168250" cy="16825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239512" y="3749040"/>
            <a:ext cx="63852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elegiste este oficio?</a:t>
            </a:r>
            <a:endParaRPr lang="en-US" sz="1550" dirty="0"/>
          </a:p>
        </p:txBody>
      </p:sp>
      <p:pic>
        <p:nvPicPr>
          <p:cNvPr id="8" name="Image 2" descr="/Users/elija/Documents/GitHub/BRUNETTICUTZ/workshop/assets/icons/flecha-morad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7915" y="4414723"/>
            <a:ext cx="168250" cy="16825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239512" y="4279392"/>
            <a:ext cx="63852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¿Cuál fue tu punto de inflexión?</a:t>
            </a:r>
            <a:endParaRPr lang="en-US" sz="1550" dirty="0"/>
          </a:p>
        </p:txBody>
      </p:sp>
      <p:pic>
        <p:nvPicPr>
          <p:cNvPr id="10" name="Image 3" descr="/Users/elija/Documents/GitHub/BRUNETTICUTZ/workshop/assets/icons/flecha-morad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7915" y="4945075"/>
            <a:ext cx="168250" cy="16825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5239512" y="4809744"/>
            <a:ext cx="63852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dolor personal resolviste?</a:t>
            </a:r>
            <a:endParaRPr lang="en-US" sz="1550" dirty="0"/>
          </a:p>
        </p:txBody>
      </p:sp>
      <p:pic>
        <p:nvPicPr>
          <p:cNvPr id="12" name="Image 4" descr="/Users/elija/Documents/GitHub/BRUNETTICUTZ/workshop/assets/icons/flecha-morad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7915" y="5475427"/>
            <a:ext cx="168250" cy="16825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5239512" y="5340096"/>
            <a:ext cx="63852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¿A quién querías parecerte?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8C3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01 · PRECIO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201632" y="402336"/>
            <a:ext cx="442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ecuación de valor · Hormozi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51560"/>
            <a:ext cx="11057839" cy="54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92"/>
              </a:lnSpc>
              <a:buNone/>
            </a:pPr>
            <a:r>
              <a:rPr lang="en-US" sz="3200" b="1" spc="-9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alguien paga más?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2613584" cy="2743200"/>
          </a:xfrm>
          <a:prstGeom prst="rect">
            <a:avLst/>
          </a:prstGeom>
          <a:solidFill>
            <a:srgbClr val="16111E"/>
          </a:solidFill>
          <a:ln w="12700">
            <a:solidFill>
              <a:srgbClr val="16111E"/>
            </a:solidFill>
            <a:prstDash val="solid"/>
          </a:ln>
        </p:spPr>
      </p:sp>
      <p:pic>
        <p:nvPicPr>
          <p:cNvPr id="6" name="Image 0" descr="/Users/elija/Documents/GitHub/BRUNETTICUTZ/workshop/assets/icons/estrella-li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" y="2226564"/>
            <a:ext cx="210312" cy="2103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89888" y="2103120"/>
            <a:ext cx="153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B7A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▲ SUBE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724912"/>
            <a:ext cx="210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spc="-2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8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800" b="1" spc="-2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DESEADO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840480"/>
            <a:ext cx="210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logra el cliente?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81680" y="1874520"/>
            <a:ext cx="2613584" cy="2743200"/>
          </a:xfrm>
          <a:prstGeom prst="rect">
            <a:avLst/>
          </a:prstGeom>
          <a:solidFill>
            <a:srgbClr val="16111E"/>
          </a:solidFill>
          <a:ln w="12700">
            <a:solidFill>
              <a:srgbClr val="16111E"/>
            </a:solidFill>
            <a:prstDash val="solid"/>
          </a:ln>
        </p:spPr>
      </p:sp>
      <p:pic>
        <p:nvPicPr>
          <p:cNvPr id="11" name="Image 1" descr="/Users/elija/Documents/GitHub/BRUNETTICUTZ/workshop/assets/icons/check-lil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156" y="2226564"/>
            <a:ext cx="210312" cy="2103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04640" y="2103120"/>
            <a:ext cx="153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B7A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▲ SUBE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3637712" y="2724912"/>
            <a:ext cx="210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spc="-2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PROBABILIDAD</a:t>
            </a:r>
            <a:endParaRPr lang="en-US" sz="18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800" b="1" spc="-2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ÉXITO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637712" y="3840480"/>
            <a:ext cx="210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tan seguro se siente?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96432" y="1874520"/>
            <a:ext cx="2613584" cy="2743200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pic>
        <p:nvPicPr>
          <p:cNvPr id="16" name="Image 2" descr="/Users/elija/Documents/GitHub/BRUNETTICUTZ/workshop/assets/icons/reloj-morad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8" y="2226564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019392" y="2103120"/>
            <a:ext cx="153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B830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 BAJA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6452464" y="2724912"/>
            <a:ext cx="210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spc="-2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</a:t>
            </a:r>
            <a:endParaRPr lang="en-US" sz="18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800" b="1" spc="-2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ESPERA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452464" y="3840480"/>
            <a:ext cx="210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¿Cuánto tarda?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11183" y="1874520"/>
            <a:ext cx="2613584" cy="2743200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pic>
        <p:nvPicPr>
          <p:cNvPr id="21" name="Image 3" descr="/Users/elija/Documents/GitHub/BRUNETTICUTZ/workshop/assets/icons/filtro-morad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659" y="2226564"/>
            <a:ext cx="210312" cy="2103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834143" y="2103120"/>
            <a:ext cx="153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B830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 BAJA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9267215" y="2724912"/>
            <a:ext cx="210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spc="-2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ESFUERZO</a:t>
            </a:r>
            <a:endParaRPr lang="en-US" sz="18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800" b="1" spc="-2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CLIENTE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9267215" y="3840480"/>
            <a:ext cx="210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¿Cuánto le cuesta?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566928" y="4892040"/>
            <a:ext cx="11057839" cy="378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0"/>
              </a:lnSpc>
              <a:buNone/>
            </a:pPr>
            <a:r>
              <a:rPr lang="en-US" sz="2000" b="1" spc="-90" kern="0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Sube los dos primeros. Baja los dos últimos. El precio se justifica solo.</a:t>
            </a:r>
            <a:endParaRPr lang="en-US" sz="2000" dirty="0"/>
          </a:p>
        </p:txBody>
      </p:sp>
      <p:pic>
        <p:nvPicPr>
          <p:cNvPr id="26" name="Image 4" descr="/Users/elija/Documents/GitHub/BRUNETTICUTZ/workshop/assets/logo-brunetti-morad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6199632"/>
            <a:ext cx="968121" cy="2377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095848" y="6199632"/>
            <a:ext cx="552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1 / 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8C3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01 · PRECIO SIN MIEDO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1057839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6"/>
              </a:lnSpc>
              <a:buNone/>
            </a:pPr>
            <a:r>
              <a:rPr lang="en-US" sz="3100" b="1" spc="-9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Empaqueta el valor. Cobra en niveles.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3515258" cy="3063240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pic>
        <p:nvPicPr>
          <p:cNvPr id="5" name="Image 0" descr="/Users/elija/Documents/GitHub/BRUNETTICUTZ/workshop/assets/icons/tijera-mor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2208276"/>
            <a:ext cx="210312" cy="2103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44752" y="2084832"/>
            <a:ext cx="2326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BÁSICO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2697480"/>
            <a:ext cx="289346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$21.000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77824" y="3273552"/>
            <a:ext cx="28934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margen ~60%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3657600"/>
            <a:ext cx="289346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 estándar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Sello de atención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 de entrada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38218" y="1828800"/>
            <a:ext cx="3515258" cy="3063240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pic>
        <p:nvPicPr>
          <p:cNvPr id="11" name="Image 1" descr="/Users/elija/Documents/GitHub/BRUNETTICUTZ/workshop/assets/icons/estrella-mora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558" y="2208276"/>
            <a:ext cx="210312" cy="2103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16042" y="2084832"/>
            <a:ext cx="2326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PREMIUM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4649114" y="2697480"/>
            <a:ext cx="289346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$42.000</a:t>
            </a:r>
            <a:endParaRPr lang="en-US" sz="3000" dirty="0"/>
          </a:p>
        </p:txBody>
      </p:sp>
      <p:sp>
        <p:nvSpPr>
          <p:cNvPr id="14" name="Text 10"/>
          <p:cNvSpPr txBox="1"/>
          <p:nvPr/>
        </p:nvSpPr>
        <p:spPr>
          <a:xfrm>
            <a:off x="4649114" y="3273552"/>
            <a:ext cx="28934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margen ~70%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4649114" y="3657600"/>
            <a:ext cx="289346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 + barba + producto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personalizado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 prioritaria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09509" y="1828800"/>
            <a:ext cx="3515258" cy="3063240"/>
          </a:xfrm>
          <a:prstGeom prst="rect">
            <a:avLst/>
          </a:prstGeom>
          <a:solidFill>
            <a:srgbClr val="16111E"/>
          </a:solidFill>
          <a:ln w="12700">
            <a:solidFill>
              <a:srgbClr val="16111E"/>
            </a:solidFill>
            <a:prstDash val="solid"/>
          </a:ln>
        </p:spPr>
      </p:sp>
      <p:pic>
        <p:nvPicPr>
          <p:cNvPr id="17" name="Image 2" descr="/Users/elija/Documents/GitHub/BRUNETTICUTZ/workshop/assets/icons/premio-lil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3849" y="2208276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987333" y="2084832"/>
            <a:ext cx="2326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98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VIP · MEMBRESÍA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8420405" y="2697480"/>
            <a:ext cx="289346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$99.000 /mes</a:t>
            </a:r>
            <a:endParaRPr lang="en-US" sz="3000" dirty="0"/>
          </a:p>
        </p:txBody>
      </p:sp>
      <p:sp>
        <p:nvSpPr>
          <p:cNvPr id="20" name="Text 15"/>
          <p:cNvSpPr txBox="1"/>
          <p:nvPr/>
        </p:nvSpPr>
        <p:spPr>
          <a:xfrm>
            <a:off x="8420405" y="3273552"/>
            <a:ext cx="28934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98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margen ~80%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8420405" y="3657600"/>
            <a:ext cx="289346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cortes/mes + todo incluido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 fija, sin espera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 predecible para ti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566928" y="516636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 siempre el más alto primero: el primer número ancla toda la conversación. Y nunca bajes el precio — sube el valor.</a:t>
            </a:r>
            <a:endParaRPr lang="en-US" sz="1450" dirty="0"/>
          </a:p>
        </p:txBody>
      </p:sp>
      <p:pic>
        <p:nvPicPr>
          <p:cNvPr id="23" name="Image 3" descr="/Users/elija/Documents/GitHub/BRUNETTICUTZ/workshop/assets/logo-brunetti-morad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199632"/>
            <a:ext cx="968121" cy="23774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095848" y="6199632"/>
            <a:ext cx="552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1 / 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lija/Documents/GitHub/BRUNETTICUTZ/workshop/assets/icons/reloj-mor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621" y="469453"/>
            <a:ext cx="176662" cy="17666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8992" y="3657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8C3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EJERCICIO 01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8424367" y="32918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minutos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1143000"/>
            <a:ext cx="11057839" cy="118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40"/>
              </a:lnSpc>
              <a:buNone/>
            </a:pPr>
            <a:r>
              <a:rPr lang="en-US" sz="4000" b="1" spc="-9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Construye tu frase</a:t>
            </a:r>
            <a:endParaRPr lang="en-US" sz="4000" dirty="0"/>
          </a:p>
          <a:p>
            <a:pPr algn="l" indent="0" marL="0">
              <a:lnSpc>
                <a:spcPts val="4240"/>
              </a:lnSpc>
              <a:buNone/>
            </a:pPr>
            <a:r>
              <a:rPr lang="en-US" sz="4000" b="1" spc="-90" kern="0" dirty="0">
                <a:solidFill>
                  <a:srgbClr val="A98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posicionamiento.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566928" y="2971800"/>
            <a:ext cx="3515258" cy="1828800"/>
          </a:xfrm>
          <a:prstGeom prst="rect">
            <a:avLst/>
          </a:prstGeom>
          <a:solidFill>
            <a:srgbClr val="241C31"/>
          </a:solidFill>
          <a:ln w="12700">
            <a:solidFill>
              <a:srgbClr val="241C3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1248" y="32004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3639312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¿Quién soy? Tu especialidad o tu enfoque, en una línea.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38218" y="2971800"/>
            <a:ext cx="3515258" cy="1828800"/>
          </a:xfrm>
          <a:prstGeom prst="rect">
            <a:avLst/>
          </a:prstGeom>
          <a:solidFill>
            <a:srgbClr val="241C31"/>
          </a:solidFill>
          <a:ln w="12700">
            <a:solidFill>
              <a:srgbClr val="241C3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12538" y="32004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4612538" y="3639312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¿A quién sirvo? Tu cliente ideal, con nombre y apellido si hace falta.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109509" y="2971800"/>
            <a:ext cx="3515258" cy="1828800"/>
          </a:xfrm>
          <a:prstGeom prst="rect">
            <a:avLst/>
          </a:prstGeom>
          <a:solidFill>
            <a:srgbClr val="241C31"/>
          </a:solidFill>
          <a:ln w="12700">
            <a:solidFill>
              <a:srgbClr val="241C3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83829" y="32004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8383829" y="3639312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me eligen? Tu diferencial real, no el que te gustaría tener.</a:t>
            </a:r>
            <a:endParaRPr lang="en-US" sz="1400" dirty="0"/>
          </a:p>
        </p:txBody>
      </p:sp>
      <p:pic>
        <p:nvPicPr>
          <p:cNvPr id="15" name="Image 1" descr="/Users/elija/Documents/GitHub/BRUNETTICUTZ/workshop/assets/icons/check-lil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" y="5237683"/>
            <a:ext cx="168250" cy="16825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60704" y="51389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9A8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QUEDA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2029968" y="5138928"/>
            <a:ext cx="95947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98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frase que sirve para tu bio de Instagram y para presentarte.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lija/Documents/GitHub/BRUNETTICUTZ/workshop/assets/logo-ascension-cla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1808" y="566928"/>
            <a:ext cx="882960" cy="8686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658368"/>
            <a:ext cx="97776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A98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02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2286000"/>
            <a:ext cx="11057839" cy="2471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200"/>
              </a:lnSpc>
              <a:buNone/>
            </a:pPr>
            <a:r>
              <a:rPr lang="en-US" sz="6200" b="1" spc="-9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barbero que</a:t>
            </a:r>
            <a:endParaRPr lang="en-US" sz="6200" dirty="0"/>
          </a:p>
          <a:p>
            <a:pPr algn="l" indent="0" marL="0">
              <a:lnSpc>
                <a:spcPts val="6200"/>
              </a:lnSpc>
              <a:buNone/>
            </a:pPr>
            <a:r>
              <a:rPr lang="en-US" sz="6200" b="1" spc="-9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ve,</a:t>
            </a:r>
            <a:endParaRPr lang="en-US" sz="6200" dirty="0"/>
          </a:p>
          <a:p>
            <a:pPr algn="l" indent="0" marL="0">
              <a:lnSpc>
                <a:spcPts val="6200"/>
              </a:lnSpc>
              <a:buNone/>
            </a:pPr>
            <a:r>
              <a:rPr lang="en-US" sz="6200" b="1" spc="-90" kern="0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vende.</a:t>
            </a:r>
            <a:endParaRPr lang="en-US" sz="62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5285232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virales: cómo dejar de ser invisible y que el cliente decida pagarte antes de entrar a la silla.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8C3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02 · EL HOOK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201632" y="402336"/>
            <a:ext cx="442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primer segundo lo es todo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51560"/>
            <a:ext cx="11057839" cy="91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80"/>
              </a:lnSpc>
              <a:buNone/>
            </a:pPr>
            <a:r>
              <a:rPr lang="en-US" sz="3000" b="1" spc="-9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no se entiende sin audio,</a:t>
            </a:r>
            <a:endParaRPr lang="en-US" sz="3000" dirty="0"/>
          </a:p>
          <a:p>
            <a:pPr algn="l" indent="0" marL="0">
              <a:lnSpc>
                <a:spcPts val="3180"/>
              </a:lnSpc>
              <a:buNone/>
            </a:pPr>
            <a:r>
              <a:rPr lang="en-US" sz="3000" b="1" spc="-90" kern="0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video ya murió.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2668448" cy="2057400"/>
          </a:xfrm>
          <a:prstGeom prst="rect">
            <a:avLst/>
          </a:prstGeom>
          <a:solidFill>
            <a:srgbClr val="8C3FDB"/>
          </a:solidFill>
          <a:ln w="12700">
            <a:solidFill>
              <a:srgbClr val="8C3FDB"/>
            </a:solidFill>
            <a:prstDash val="solid"/>
          </a:ln>
        </p:spPr>
      </p:sp>
      <p:pic>
        <p:nvPicPr>
          <p:cNvPr id="6" name="Image 0" descr="/Users/elija/Documents/GitHub/BRUNETTICUTZ/workshop/assets/icons/alerta-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2500884"/>
            <a:ext cx="210312" cy="2103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138096" y="23774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E6D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2999232"/>
            <a:ext cx="211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8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Dolor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3547872"/>
            <a:ext cx="2119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problema visual que se entiende al instante.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63392" y="2103120"/>
            <a:ext cx="2668448" cy="2057400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pic>
        <p:nvPicPr>
          <p:cNvPr id="11" name="Image 1" descr="/Users/elija/Documents/GitHub/BRUNETTICUTZ/workshop/assets/icons/ojo-mora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156" y="2500884"/>
            <a:ext cx="210312" cy="2103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934560" y="23774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3637712" y="2999232"/>
            <a:ext cx="211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8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Curiosidad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637712" y="3547872"/>
            <a:ext cx="2119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promesa abierta que obliga a seguir mirando.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59856" y="2103120"/>
            <a:ext cx="2668448" cy="2057400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pic>
        <p:nvPicPr>
          <p:cNvPr id="16" name="Image 2" descr="/Users/elija/Documents/GitHub/BRUNETTICUTZ/workshop/assets/icons/sonrisa-morad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620" y="2500884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731023" y="23774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6434176" y="2999232"/>
            <a:ext cx="211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8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Personalidad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434176" y="3547872"/>
            <a:ext cx="2119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Emoción real: la reacción del cliente en el espejo.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8956319" y="2103120"/>
            <a:ext cx="2668448" cy="2057400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pic>
        <p:nvPicPr>
          <p:cNvPr id="21" name="Image 3" descr="/Users/elija/Documents/GitHub/BRUNETTICUTZ/workshop/assets/icons/compartir-morad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4083" y="2500884"/>
            <a:ext cx="210312" cy="2103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527487" y="23774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9230639" y="2999232"/>
            <a:ext cx="211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8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 viral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9230639" y="3547872"/>
            <a:ext cx="2119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sonido o tendencia que la gente ya reconoce.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566928" y="4553712"/>
            <a:ext cx="420624" cy="420624"/>
          </a:xfrm>
          <a:prstGeom prst="ellipse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pic>
        <p:nvPicPr>
          <p:cNvPr id="26" name="Image 4" descr="/Users/elija/Documents/GitHub/BRUNETTICUTZ/workshop/assets/icons/mudo-morad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496" y="4667280"/>
            <a:ext cx="193487" cy="19348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207008" y="448056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80% ve el primer segundo en silencio. Ese es todo el examen.</a:t>
            </a:r>
            <a:endParaRPr lang="en-US" sz="1500" dirty="0"/>
          </a:p>
        </p:txBody>
      </p:sp>
      <p:pic>
        <p:nvPicPr>
          <p:cNvPr id="28" name="Image 5" descr="/Users/elija/Documents/GitHub/BRUNETTICUTZ/workshop/assets/logo-brunetti-morad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6199632"/>
            <a:ext cx="968121" cy="23774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095848" y="6199632"/>
            <a:ext cx="552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2 / 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8C3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02 · TIPOS DE CONTENIDO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201632" y="402336"/>
            <a:ext cx="442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Framework EYE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51560"/>
            <a:ext cx="11057839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6"/>
              </a:lnSpc>
              <a:buNone/>
            </a:pPr>
            <a:r>
              <a:rPr lang="en-US" sz="3100" b="1" spc="-9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todo video es igual.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3515258" cy="3017520"/>
          </a:xfrm>
          <a:prstGeom prst="rect">
            <a:avLst/>
          </a:prstGeom>
          <a:solidFill>
            <a:srgbClr val="16111E"/>
          </a:solidFill>
          <a:ln w="12700">
            <a:solidFill>
              <a:srgbClr val="1611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" y="1965960"/>
            <a:ext cx="289346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7800" dirty="0"/>
          </a:p>
        </p:txBody>
      </p:sp>
      <p:pic>
        <p:nvPicPr>
          <p:cNvPr id="7" name="Image 0" descr="/Users/elija/Documents/GitHub/BRUNETTICUTZ/workshop/assets/icons/play-li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9196" y="2259665"/>
            <a:ext cx="235549" cy="23554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77824" y="3520440"/>
            <a:ext cx="2893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spc="-3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Entretenimiento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3950208"/>
            <a:ext cx="2893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Sketches, reacciones, retos.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4370832"/>
            <a:ext cx="2893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A98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ENGANCHA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38218" y="1828800"/>
            <a:ext cx="3515258" cy="3017520"/>
          </a:xfrm>
          <a:prstGeom prst="rect">
            <a:avLst/>
          </a:prstGeom>
          <a:solidFill>
            <a:srgbClr val="16111E"/>
          </a:solidFill>
          <a:ln w="12700">
            <a:solidFill>
              <a:srgbClr val="16111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49114" y="1965960"/>
            <a:ext cx="289346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7800" dirty="0"/>
          </a:p>
        </p:txBody>
      </p:sp>
      <p:pic>
        <p:nvPicPr>
          <p:cNvPr id="13" name="Image 1" descr="/Users/elija/Documents/GitHub/BRUNETTICUTZ/workshop/assets/icons/capas-lil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486" y="2259665"/>
            <a:ext cx="235549" cy="23554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649114" y="3520440"/>
            <a:ext cx="2893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spc="-3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Educación</a:t>
            </a:r>
            <a:endParaRPr lang="en-US" sz="2100" dirty="0"/>
          </a:p>
        </p:txBody>
      </p:sp>
      <p:sp>
        <p:nvSpPr>
          <p:cNvPr id="15" name="Text 11"/>
          <p:cNvSpPr txBox="1"/>
          <p:nvPr/>
        </p:nvSpPr>
        <p:spPr>
          <a:xfrm>
            <a:off x="4649114" y="3950208"/>
            <a:ext cx="2893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Tips, datos, tutoriales.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4649114" y="4370832"/>
            <a:ext cx="2893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A98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AUTORIDAD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8109509" y="1828800"/>
            <a:ext cx="3515258" cy="3017520"/>
          </a:xfrm>
          <a:prstGeom prst="rect">
            <a:avLst/>
          </a:prstGeom>
          <a:solidFill>
            <a:srgbClr val="16111E"/>
          </a:solidFill>
          <a:ln w="12700">
            <a:solidFill>
              <a:srgbClr val="16111E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420405" y="1965960"/>
            <a:ext cx="289346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7800" dirty="0"/>
          </a:p>
        </p:txBody>
      </p:sp>
      <p:pic>
        <p:nvPicPr>
          <p:cNvPr id="19" name="Image 2" descr="/Users/elija/Documents/GitHub/BRUNETTICUTZ/workshop/assets/icons/estrella-lil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1776" y="2259665"/>
            <a:ext cx="235549" cy="235549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420405" y="3520440"/>
            <a:ext cx="2893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spc="-3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Inspiración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8420405" y="3950208"/>
            <a:ext cx="2893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Transformaciones, historias.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8420405" y="4370832"/>
            <a:ext cx="2893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A98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DESEO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566928" y="512064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más virales son híbridos: entretener + inspirar. No te quedes solo en tutoriales.</a:t>
            </a:r>
            <a:endParaRPr lang="en-US" sz="1500" dirty="0"/>
          </a:p>
        </p:txBody>
      </p:sp>
      <p:pic>
        <p:nvPicPr>
          <p:cNvPr id="24" name="Image 3" descr="/Users/elija/Documents/GitHub/BRUNETTICUTZ/workshop/assets/logo-brunetti-morad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199632"/>
            <a:ext cx="968121" cy="23774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095848" y="6199632"/>
            <a:ext cx="552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2 / 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8C3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02 · ANTES DE GRABAR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1057839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6"/>
              </a:lnSpc>
              <a:buNone/>
            </a:pPr>
            <a:r>
              <a:rPr lang="en-US" sz="3100" b="1" spc="-9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sistema, no videos sueltos.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11057839" cy="694944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pic>
        <p:nvPicPr>
          <p:cNvPr id="5" name="Image 0" descr="/Users/elija/Documents/GitHub/BRUNETTICUTZ/workshop/assets/icons/personas-mor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208276"/>
            <a:ext cx="210312" cy="2103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36192" y="1965960"/>
            <a:ext cx="46442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¿Quién comunica?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874691" y="1965960"/>
            <a:ext cx="54391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Apareces 7 veces para ser familiar.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566928" y="2788920"/>
            <a:ext cx="11057839" cy="694944"/>
          </a:xfrm>
          <a:prstGeom prst="rect">
            <a:avLst/>
          </a:prstGeom>
          <a:solidFill>
            <a:srgbClr val="F4F0E8"/>
          </a:solidFill>
          <a:ln w="12700">
            <a:solidFill>
              <a:srgbClr val="F4F0E8"/>
            </a:solidFill>
            <a:prstDash val="solid"/>
          </a:ln>
        </p:spPr>
      </p:sp>
      <p:pic>
        <p:nvPicPr>
          <p:cNvPr id="9" name="Image 1" descr="/Users/elija/Documents/GitHub/BRUNETTICUTZ/workshop/assets/icons/diana-mora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3031236"/>
            <a:ext cx="210312" cy="2103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36192" y="2788920"/>
            <a:ext cx="46442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comunicas?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5874691" y="2788920"/>
            <a:ext cx="54391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meses en un solo nicho.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566928" y="3611880"/>
            <a:ext cx="11057839" cy="694944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pic>
        <p:nvPicPr>
          <p:cNvPr id="13" name="Image 2" descr="/Users/elija/Documents/GitHub/BRUNETTICUTZ/workshop/assets/icons/chispa-morad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385419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36192" y="3611880"/>
            <a:ext cx="46442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lo comunicas?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5874691" y="3611880"/>
            <a:ext cx="54391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personalidad es el diferencial.</a:t>
            </a:r>
            <a:endParaRPr lang="en-US" sz="1650" dirty="0"/>
          </a:p>
        </p:txBody>
      </p:sp>
      <p:sp>
        <p:nvSpPr>
          <p:cNvPr id="16" name="Shape 11"/>
          <p:cNvSpPr/>
          <p:nvPr/>
        </p:nvSpPr>
        <p:spPr>
          <a:xfrm>
            <a:off x="566928" y="4434840"/>
            <a:ext cx="11057839" cy="694944"/>
          </a:xfrm>
          <a:prstGeom prst="rect">
            <a:avLst/>
          </a:prstGeom>
          <a:solidFill>
            <a:srgbClr val="F4F0E8"/>
          </a:solidFill>
          <a:ln w="12700">
            <a:solidFill>
              <a:srgbClr val="F4F0E8"/>
            </a:solidFill>
            <a:prstDash val="solid"/>
          </a:ln>
        </p:spPr>
      </p:sp>
      <p:pic>
        <p:nvPicPr>
          <p:cNvPr id="17" name="Image 3" descr="/Users/elija/Documents/GitHub/BRUNETTICUTZ/workshop/assets/icons/telefono-morad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677156"/>
            <a:ext cx="210312" cy="21031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36192" y="4434840"/>
            <a:ext cx="46442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¿Dónde lo comunicas?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5874691" y="4434840"/>
            <a:ext cx="54391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TikTok, Instagram, YouTube.</a:t>
            </a:r>
            <a:endParaRPr lang="en-US" sz="1650" dirty="0"/>
          </a:p>
        </p:txBody>
      </p:sp>
      <p:sp>
        <p:nvSpPr>
          <p:cNvPr id="20" name="Text 14"/>
          <p:cNvSpPr txBox="1"/>
          <p:nvPr/>
        </p:nvSpPr>
        <p:spPr>
          <a:xfrm>
            <a:off x="566928" y="544068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mayoría abandona en el video 4 y cambia de nicho al mes y medio. Ahí está la diferencia.</a:t>
            </a:r>
            <a:endParaRPr lang="en-US" sz="1500" dirty="0"/>
          </a:p>
        </p:txBody>
      </p:sp>
      <p:pic>
        <p:nvPicPr>
          <p:cNvPr id="21" name="Image 4" descr="/Users/elija/Documents/GitHub/BRUNETTICUTZ/workshop/assets/logo-brunetti-morad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6199632"/>
            <a:ext cx="968121" cy="23774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095848" y="6199632"/>
            <a:ext cx="552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2 / 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A98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02 · EL ALGORITMO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201632" y="402336"/>
            <a:ext cx="442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9A8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le importan tus seguidores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97280"/>
            <a:ext cx="11057839" cy="113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28"/>
              </a:lnSpc>
              <a:buNone/>
            </a:pPr>
            <a:r>
              <a:rPr lang="en-US" sz="3800" b="1" spc="-9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son views.</a:t>
            </a:r>
            <a:endParaRPr lang="en-US" sz="3800" dirty="0"/>
          </a:p>
          <a:p>
            <a:pPr algn="l" indent="0" marL="0">
              <a:lnSpc>
                <a:spcPts val="4028"/>
              </a:lnSpc>
              <a:buNone/>
            </a:pPr>
            <a:r>
              <a:rPr lang="en-US" sz="3800" b="1" spc="-90" kern="0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retención.</a:t>
            </a:r>
            <a:endParaRPr lang="en-US" sz="3800" dirty="0"/>
          </a:p>
        </p:txBody>
      </p:sp>
      <p:pic>
        <p:nvPicPr>
          <p:cNvPr id="5" name="Image 0" descr="/Users/elija/Documents/GitHub/BRUNETTICUTZ/workshop/assets/icons/reloj-li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2647188"/>
            <a:ext cx="210312" cy="2103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43584" y="2468880"/>
            <a:ext cx="4423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primeros 3 segundos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243584" y="2779776"/>
            <a:ext cx="442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la decisión de distribución</a:t>
            </a:r>
            <a:endParaRPr lang="en-US" sz="1250" dirty="0"/>
          </a:p>
        </p:txBody>
      </p:sp>
      <p:pic>
        <p:nvPicPr>
          <p:cNvPr id="8" name="Image 1" descr="/Users/elija/Documents/GitHub/BRUNETTICUTZ/workshop/assets/icons/grafico-lil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3433572"/>
            <a:ext cx="210312" cy="2103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43584" y="3255264"/>
            <a:ext cx="4423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time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243584" y="3566160"/>
            <a:ext cx="442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Cuánto lo ven, del 0% al 100%</a:t>
            </a:r>
            <a:endParaRPr lang="en-US" sz="1250" dirty="0"/>
          </a:p>
        </p:txBody>
      </p:sp>
      <p:pic>
        <p:nvPicPr>
          <p:cNvPr id="11" name="Image 2" descr="/Users/elija/Documents/GitHub/BRUNETTICUTZ/workshop/assets/icons/guardado-lil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4219956"/>
            <a:ext cx="210312" cy="21031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43584" y="4041648"/>
            <a:ext cx="4423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Guardados y compartidos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1243584" y="4352544"/>
            <a:ext cx="442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save es el rey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874691" y="2331720"/>
            <a:ext cx="5750076" cy="2651760"/>
          </a:xfrm>
          <a:prstGeom prst="rect">
            <a:avLst/>
          </a:prstGeom>
          <a:solidFill>
            <a:srgbClr val="241C31"/>
          </a:solidFill>
          <a:ln w="12700">
            <a:solidFill>
              <a:srgbClr val="241C31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03875" y="2578608"/>
            <a:ext cx="5091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98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DATO QUE LO CAMBIA TODO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6203875" y="3035808"/>
            <a:ext cx="5091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1.000 views + 200 saves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6203875" y="3401568"/>
            <a:ext cx="5091708" cy="128016"/>
          </a:xfrm>
          <a:prstGeom prst="rect">
            <a:avLst/>
          </a:prstGeom>
          <a:solidFill>
            <a:srgbClr val="2E2740"/>
          </a:solidFill>
          <a:ln w="12700">
            <a:solidFill>
              <a:srgbClr val="2E274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203875" y="3401568"/>
            <a:ext cx="4684372" cy="128016"/>
          </a:xfrm>
          <a:prstGeom prst="rect">
            <a:avLst/>
          </a:prstGeom>
          <a:solidFill>
            <a:srgbClr val="8C3FDB"/>
          </a:solidFill>
          <a:ln w="12700">
            <a:solidFill>
              <a:srgbClr val="8C3FDB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203875" y="3785616"/>
            <a:ext cx="5091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10.000 views + 10 saves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6203875" y="4151376"/>
            <a:ext cx="5091708" cy="128016"/>
          </a:xfrm>
          <a:prstGeom prst="rect">
            <a:avLst/>
          </a:prstGeom>
          <a:solidFill>
            <a:srgbClr val="2E2740"/>
          </a:solidFill>
          <a:ln w="12700">
            <a:solidFill>
              <a:srgbClr val="2E274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203875" y="4151376"/>
            <a:ext cx="916508" cy="128016"/>
          </a:xfrm>
          <a:prstGeom prst="rect">
            <a:avLst/>
          </a:prstGeom>
          <a:solidFill>
            <a:srgbClr val="4A4258"/>
          </a:solidFill>
          <a:ln w="12700">
            <a:solidFill>
              <a:srgbClr val="4A4258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203875" y="4526280"/>
            <a:ext cx="5091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 sobre cantidad. Y lo mismo con la retención: 100K views al 80% le gana a 1M al 10%.</a:t>
            </a:r>
            <a:endParaRPr lang="en-US" sz="1250" dirty="0"/>
          </a:p>
        </p:txBody>
      </p:sp>
      <p:sp>
        <p:nvSpPr>
          <p:cNvPr id="23" name="Text 18"/>
          <p:cNvSpPr txBox="1"/>
          <p:nvPr/>
        </p:nvSpPr>
        <p:spPr>
          <a:xfrm>
            <a:off x="566928" y="534924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pregunta después de cada video es una sola: ¿dónde scrollean? Ahí está la mejora del próximo.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lija/Documents/GitHub/BRUNETTICUTZ/workshop/assets/icons/reloj-mor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621" y="469453"/>
            <a:ext cx="176662" cy="17666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8992" y="3657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8C3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EJERCICIO 02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8424367" y="32918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minutos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1143000"/>
            <a:ext cx="11057839" cy="118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40"/>
              </a:lnSpc>
              <a:buNone/>
            </a:pPr>
            <a:r>
              <a:rPr lang="en-US" sz="4000" b="1" spc="-9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Tus 3 hooks</a:t>
            </a:r>
            <a:endParaRPr lang="en-US" sz="4000" dirty="0"/>
          </a:p>
          <a:p>
            <a:pPr algn="l" indent="0" marL="0">
              <a:lnSpc>
                <a:spcPts val="4240"/>
              </a:lnSpc>
              <a:buNone/>
            </a:pPr>
            <a:r>
              <a:rPr lang="en-US" sz="4000" b="1" spc="-90" kern="0" dirty="0">
                <a:solidFill>
                  <a:srgbClr val="A98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dolor.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566928" y="2971800"/>
            <a:ext cx="3515258" cy="1828800"/>
          </a:xfrm>
          <a:prstGeom prst="rect">
            <a:avLst/>
          </a:prstGeom>
          <a:solidFill>
            <a:srgbClr val="241C31"/>
          </a:solidFill>
          <a:ln w="12700">
            <a:solidFill>
              <a:srgbClr val="241C3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1248" y="32004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3639312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¿Cuál es el problema visual más común que ves en tus clientes? Cada uno dice UNO en voz alta.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38218" y="2971800"/>
            <a:ext cx="3515258" cy="1828800"/>
          </a:xfrm>
          <a:prstGeom prst="rect">
            <a:avLst/>
          </a:prstGeom>
          <a:solidFill>
            <a:srgbClr val="241C31"/>
          </a:solidFill>
          <a:ln w="12700">
            <a:solidFill>
              <a:srgbClr val="241C3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12538" y="32004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4612538" y="3639312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Categorizamos la lista en la pizarra: ¿dolor, curiosidad o personalidad?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109509" y="2971800"/>
            <a:ext cx="3515258" cy="1828800"/>
          </a:xfrm>
          <a:prstGeom prst="rect">
            <a:avLst/>
          </a:prstGeom>
          <a:solidFill>
            <a:srgbClr val="241C31"/>
          </a:solidFill>
          <a:ln w="12700">
            <a:solidFill>
              <a:srgbClr val="241C3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83829" y="32004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8383829" y="3639312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uno se queda con SUS tres. Ese es tu banco de hooks del mes.</a:t>
            </a:r>
            <a:endParaRPr lang="en-US" sz="1400" dirty="0"/>
          </a:p>
        </p:txBody>
      </p:sp>
      <p:pic>
        <p:nvPicPr>
          <p:cNvPr id="15" name="Image 1" descr="/Users/elija/Documents/GitHub/BRUNETTICUTZ/workshop/assets/icons/check-lil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" y="5237683"/>
            <a:ext cx="168250" cy="16825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60704" y="51389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9A8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QUEDA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2029968" y="5138928"/>
            <a:ext cx="95947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98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hooks escritos, propios, listos para grabar.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lija/Documents/GitHub/BRUNETTICUTZ/workshop/assets/logo-ascension-cla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1808" y="566928"/>
            <a:ext cx="882960" cy="8686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658368"/>
            <a:ext cx="97776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A98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03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2286000"/>
            <a:ext cx="11057839" cy="1786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600" b="1" spc="-9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Calculadora</a:t>
            </a:r>
            <a:endParaRPr lang="en-US" sz="6600" dirty="0"/>
          </a:p>
          <a:p>
            <a:pPr algn="l" indent="0" marL="0">
              <a:lnSpc>
                <a:spcPts val="6600"/>
              </a:lnSpc>
              <a:buNone/>
            </a:pPr>
            <a:r>
              <a:rPr lang="en-US" sz="6600" b="1" spc="-90" kern="0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viralidad.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5285232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Evalúa tu idea ANTES de grabar. Seis preguntas, una nota del 0 al 10.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66928" y="5074920"/>
            <a:ext cx="548640" cy="548640"/>
          </a:xfrm>
          <a:prstGeom prst="ellipse">
            <a:avLst/>
          </a:prstGeom>
          <a:solidFill>
            <a:srgbClr val="241C31"/>
          </a:solidFill>
          <a:ln w="12700">
            <a:solidFill>
              <a:srgbClr val="241C31"/>
            </a:solidFill>
            <a:prstDash val="solid"/>
          </a:ln>
        </p:spPr>
      </p:sp>
      <p:pic>
        <p:nvPicPr>
          <p:cNvPr id="7" name="Image 1" descr="/Users/elija/Documents/GitHub/BRUNETTICUTZ/workshop/assets/icons/ojo-lil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61" y="5223053"/>
            <a:ext cx="252374" cy="25237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353312" y="5074920"/>
            <a:ext cx="548640" cy="548640"/>
          </a:xfrm>
          <a:prstGeom prst="ellipse">
            <a:avLst/>
          </a:prstGeom>
          <a:solidFill>
            <a:srgbClr val="241C31"/>
          </a:solidFill>
          <a:ln w="12700">
            <a:solidFill>
              <a:srgbClr val="241C31"/>
            </a:solidFill>
            <a:prstDash val="solid"/>
          </a:ln>
        </p:spPr>
      </p:sp>
      <p:pic>
        <p:nvPicPr>
          <p:cNvPr id="9" name="Image 2" descr="/Users/elija/Documents/GitHub/BRUNETTICUTZ/workshop/assets/icons/personas-lil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445" y="5223053"/>
            <a:ext cx="252374" cy="25237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139696" y="5074920"/>
            <a:ext cx="548640" cy="548640"/>
          </a:xfrm>
          <a:prstGeom prst="ellipse">
            <a:avLst/>
          </a:prstGeom>
          <a:solidFill>
            <a:srgbClr val="241C31"/>
          </a:solidFill>
          <a:ln w="12700">
            <a:solidFill>
              <a:srgbClr val="241C31"/>
            </a:solidFill>
            <a:prstDash val="solid"/>
          </a:ln>
        </p:spPr>
      </p:sp>
      <p:pic>
        <p:nvPicPr>
          <p:cNvPr id="11" name="Image 3" descr="/Users/elija/Documents/GitHub/BRUNETTICUTZ/workshop/assets/icons/compartir-lil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7829" y="5223053"/>
            <a:ext cx="252374" cy="252374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2926080" y="5074920"/>
            <a:ext cx="548640" cy="548640"/>
          </a:xfrm>
          <a:prstGeom prst="ellipse">
            <a:avLst/>
          </a:prstGeom>
          <a:solidFill>
            <a:srgbClr val="241C31"/>
          </a:solidFill>
          <a:ln w="12700">
            <a:solidFill>
              <a:srgbClr val="241C31"/>
            </a:solidFill>
            <a:prstDash val="solid"/>
          </a:ln>
        </p:spPr>
      </p:sp>
      <p:pic>
        <p:nvPicPr>
          <p:cNvPr id="13" name="Image 4" descr="/Users/elija/Documents/GitHub/BRUNETTICUTZ/workshop/assets/icons/billete-lil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4213" y="5223053"/>
            <a:ext cx="252374" cy="252374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3712464" y="5074920"/>
            <a:ext cx="548640" cy="548640"/>
          </a:xfrm>
          <a:prstGeom prst="ellipse">
            <a:avLst/>
          </a:prstGeom>
          <a:solidFill>
            <a:srgbClr val="241C31"/>
          </a:solidFill>
          <a:ln w="12700">
            <a:solidFill>
              <a:srgbClr val="241C31"/>
            </a:solidFill>
            <a:prstDash val="solid"/>
          </a:ln>
        </p:spPr>
      </p:sp>
      <p:pic>
        <p:nvPicPr>
          <p:cNvPr id="15" name="Image 5" descr="/Users/elija/Documents/GitHub/BRUNETTICUTZ/workshop/assets/icons/grafico-lil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0597" y="5223053"/>
            <a:ext cx="252374" cy="252374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4498848" y="5074920"/>
            <a:ext cx="548640" cy="548640"/>
          </a:xfrm>
          <a:prstGeom prst="ellipse">
            <a:avLst/>
          </a:prstGeom>
          <a:solidFill>
            <a:srgbClr val="241C31"/>
          </a:solidFill>
          <a:ln w="12700">
            <a:solidFill>
              <a:srgbClr val="241C31"/>
            </a:solidFill>
            <a:prstDash val="solid"/>
          </a:ln>
        </p:spPr>
      </p:sp>
      <p:pic>
        <p:nvPicPr>
          <p:cNvPr id="17" name="Image 6" descr="/Users/elija/Documents/GitHub/BRUNETTICUTZ/workshop/assets/icons/rayo-lil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6981" y="5223053"/>
            <a:ext cx="252374" cy="25237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8C3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03 · LOS 6 CRITERIOS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201632" y="402336"/>
            <a:ext cx="442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Puntúa cada uno 0 –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51560"/>
            <a:ext cx="11057839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6"/>
              </a:lnSpc>
              <a:buNone/>
            </a:pPr>
            <a:r>
              <a:rPr lang="en-US" sz="3100" b="1" spc="-9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¿Vale la pena grabar este video?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3533546" cy="1536192"/>
          </a:xfrm>
          <a:prstGeom prst="rect">
            <a:avLst/>
          </a:prstGeom>
          <a:solidFill>
            <a:srgbClr val="8C3FDB"/>
          </a:solidFill>
          <a:ln w="12700">
            <a:solidFill>
              <a:srgbClr val="8C3FDB"/>
            </a:solidFill>
            <a:prstDash val="solid"/>
          </a:ln>
        </p:spPr>
      </p:sp>
      <p:pic>
        <p:nvPicPr>
          <p:cNvPr id="6" name="Image 0" descr="/Users/elija/Documents/GitHub/BRUNETTICUTZ/workshop/assets/icons/ojo-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2226564"/>
            <a:ext cx="210312" cy="2103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003194" y="21031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E6D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2724912"/>
            <a:ext cx="29849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8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¿Niño de 5 años?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3273552"/>
            <a:ext cx="2984906" cy="-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entiende sin audio.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29074" y="1828800"/>
            <a:ext cx="3533546" cy="1536192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pic>
        <p:nvPicPr>
          <p:cNvPr id="11" name="Image 1" descr="/Users/elija/Documents/GitHub/BRUNETTICUTZ/workshop/assets/icons/personas-mora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838" y="2226564"/>
            <a:ext cx="210312" cy="2103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765341" y="21031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4603394" y="2724912"/>
            <a:ext cx="29849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8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¿50 de 100?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603394" y="3273552"/>
            <a:ext cx="2984906" cy="-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interesa a la mitad.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091221" y="1828800"/>
            <a:ext cx="3533546" cy="1536192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pic>
        <p:nvPicPr>
          <p:cNvPr id="16" name="Image 2" descr="/Users/elija/Documents/GitHub/BRUNETTICUTZ/workshop/assets/icons/compartir-morad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8985" y="2226564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0527487" y="21031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8365541" y="2724912"/>
            <a:ext cx="29849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8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¿Referencia viral?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8365541" y="3273552"/>
            <a:ext cx="2984906" cy="-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algo que ya funcionó.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66928" y="3520440"/>
            <a:ext cx="3533546" cy="1536192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pic>
        <p:nvPicPr>
          <p:cNvPr id="21" name="Image 3" descr="/Users/elija/Documents/GitHub/BRUNETTICUTZ/workshop/assets/icons/billete-morad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3918204"/>
            <a:ext cx="210312" cy="2103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3003194" y="37947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841248" y="4416552"/>
            <a:ext cx="29849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8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¿Mercado viral?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841248" y="4965192"/>
            <a:ext cx="2984906" cy="-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 la demanda.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4329074" y="3520440"/>
            <a:ext cx="3533546" cy="1536192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pic>
        <p:nvPicPr>
          <p:cNvPr id="26" name="Image 4" descr="/Users/elija/Documents/GitHub/BRUNETTICUTZ/workshop/assets/icons/grafico-morad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6838" y="3918204"/>
            <a:ext cx="210312" cy="21031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765341" y="37947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900" dirty="0"/>
          </a:p>
        </p:txBody>
      </p:sp>
      <p:sp>
        <p:nvSpPr>
          <p:cNvPr id="28" name="Text 21"/>
          <p:cNvSpPr txBox="1"/>
          <p:nvPr/>
        </p:nvSpPr>
        <p:spPr>
          <a:xfrm>
            <a:off x="4603394" y="4416552"/>
            <a:ext cx="29849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8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¿Es tendencia?</a:t>
            </a:r>
            <a:endParaRPr lang="en-US" sz="1800" dirty="0"/>
          </a:p>
        </p:txBody>
      </p:sp>
      <p:sp>
        <p:nvSpPr>
          <p:cNvPr id="29" name="Text 22"/>
          <p:cNvSpPr txBox="1"/>
          <p:nvPr/>
        </p:nvSpPr>
        <p:spPr>
          <a:xfrm>
            <a:off x="4603394" y="4965192"/>
            <a:ext cx="2984906" cy="-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del momento.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8091221" y="3520440"/>
            <a:ext cx="3533546" cy="1536192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pic>
        <p:nvPicPr>
          <p:cNvPr id="31" name="Image 5" descr="/Users/elija/Documents/GitHub/BRUNETTICUTZ/workshop/assets/icons/rayo-morad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8985" y="3918204"/>
            <a:ext cx="210312" cy="21031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0527487" y="37947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900" dirty="0"/>
          </a:p>
        </p:txBody>
      </p:sp>
      <p:sp>
        <p:nvSpPr>
          <p:cNvPr id="33" name="Text 25"/>
          <p:cNvSpPr txBox="1"/>
          <p:nvPr/>
        </p:nvSpPr>
        <p:spPr>
          <a:xfrm>
            <a:off x="8365541" y="4416552"/>
            <a:ext cx="29849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8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¿Controversia?</a:t>
            </a:r>
            <a:endParaRPr lang="en-US" sz="1800" dirty="0"/>
          </a:p>
        </p:txBody>
      </p:sp>
      <p:sp>
        <p:nvSpPr>
          <p:cNvPr id="34" name="Text 26"/>
          <p:cNvSpPr txBox="1"/>
          <p:nvPr/>
        </p:nvSpPr>
        <p:spPr>
          <a:xfrm>
            <a:off x="8365541" y="4965192"/>
            <a:ext cx="2984906" cy="-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 debate.</a:t>
            </a:r>
            <a:endParaRPr lang="en-US" sz="1300" dirty="0"/>
          </a:p>
        </p:txBody>
      </p:sp>
      <p:sp>
        <p:nvSpPr>
          <p:cNvPr id="35" name="Text 27"/>
          <p:cNvSpPr txBox="1"/>
          <p:nvPr/>
        </p:nvSpPr>
        <p:spPr>
          <a:xfrm>
            <a:off x="566928" y="534924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promedio es la nota. El 01 es el más importante y el que más falla: si no se entiende mudo, el resto no importa.</a:t>
            </a:r>
            <a:endParaRPr lang="en-US" sz="1450" dirty="0"/>
          </a:p>
        </p:txBody>
      </p:sp>
      <p:pic>
        <p:nvPicPr>
          <p:cNvPr id="36" name="Image 6" descr="/Users/elija/Documents/GitHub/BRUNETTICUTZ/workshop/assets/logo-brunetti-morad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6199632"/>
            <a:ext cx="968121" cy="237744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095848" y="6199632"/>
            <a:ext cx="552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3 / 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8C3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03 · LA DECISIÓN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1057839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6"/>
              </a:lnSpc>
              <a:buNone/>
            </a:pPr>
            <a:r>
              <a:rPr lang="en-US" sz="3100" b="1" spc="-9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lee el puntaje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6081812" cy="621792"/>
          </a:xfrm>
          <a:prstGeom prst="rect">
            <a:avLst/>
          </a:prstGeom>
          <a:solidFill>
            <a:srgbClr val="16111E"/>
          </a:solidFill>
          <a:ln w="12700">
            <a:solidFill>
              <a:srgbClr val="1611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9536" y="182880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-60" kern="0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 – 10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2898648" y="1828800"/>
            <a:ext cx="3317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3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Graba ahora.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454180" y="182880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Probablemente viral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578608"/>
            <a:ext cx="6081812" cy="621792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9536" y="2578608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-60" kern="0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 – 7.9</a:t>
            </a:r>
            <a:endParaRPr lang="en-US" sz="2300" dirty="0"/>
          </a:p>
        </p:txBody>
      </p:sp>
      <p:sp>
        <p:nvSpPr>
          <p:cNvPr id="10" name="Text 8"/>
          <p:cNvSpPr txBox="1"/>
          <p:nvPr/>
        </p:nvSpPr>
        <p:spPr>
          <a:xfrm>
            <a:off x="2898648" y="2578608"/>
            <a:ext cx="3317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Buen contenido.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454180" y="2578608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seguro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328416"/>
            <a:ext cx="6081812" cy="621792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9536" y="3328416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-60" kern="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 – 5.9</a:t>
            </a:r>
            <a:endParaRPr lang="en-US" sz="2300" dirty="0"/>
          </a:p>
        </p:txBody>
      </p:sp>
      <p:sp>
        <p:nvSpPr>
          <p:cNvPr id="14" name="Text 12"/>
          <p:cNvSpPr txBox="1"/>
          <p:nvPr/>
        </p:nvSpPr>
        <p:spPr>
          <a:xfrm>
            <a:off x="2898648" y="3328416"/>
            <a:ext cx="3317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Rediseña la idea.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454180" y="3328416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Necesita mejora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078224"/>
            <a:ext cx="6081812" cy="621792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9536" y="4078224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-60" kern="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4.0</a:t>
            </a:r>
            <a:endParaRPr lang="en-US" sz="2300" dirty="0"/>
          </a:p>
        </p:txBody>
      </p:sp>
      <p:sp>
        <p:nvSpPr>
          <p:cNvPr id="18" name="Text 16"/>
          <p:cNvSpPr txBox="1"/>
          <p:nvPr/>
        </p:nvSpPr>
        <p:spPr>
          <a:xfrm>
            <a:off x="2898648" y="4078224"/>
            <a:ext cx="3317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Vuelve a empezar.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454180" y="4078224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está listo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201632" y="1810512"/>
            <a:ext cx="442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CUATRO IDEAS PUNTUADAS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7201632" y="2240280"/>
            <a:ext cx="364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Antes/después: pelo quemado → reparado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0893247" y="2240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7201632" y="2551176"/>
            <a:ext cx="4423136" cy="118872"/>
          </a:xfrm>
          <a:prstGeom prst="rect">
            <a:avLst/>
          </a:prstGeom>
          <a:solidFill>
            <a:srgbClr val="E0D8C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01632" y="2551176"/>
            <a:ext cx="3759665" cy="118872"/>
          </a:xfrm>
          <a:prstGeom prst="rect">
            <a:avLst/>
          </a:prstGeom>
          <a:solidFill>
            <a:srgbClr val="8C3FDB"/>
          </a:solidFill>
          <a:ln w="12700">
            <a:solidFill>
              <a:srgbClr val="8C3FD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01632" y="2935224"/>
            <a:ext cx="364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Reacción genuina en el espejo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0893247" y="29352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7201632" y="3246120"/>
            <a:ext cx="4423136" cy="118872"/>
          </a:xfrm>
          <a:prstGeom prst="rect">
            <a:avLst/>
          </a:prstGeom>
          <a:solidFill>
            <a:srgbClr val="E0D8C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01632" y="3246120"/>
            <a:ext cx="3626971" cy="118872"/>
          </a:xfrm>
          <a:prstGeom prst="rect">
            <a:avLst/>
          </a:prstGeom>
          <a:solidFill>
            <a:srgbClr val="8C3FDB"/>
          </a:solidFill>
          <a:ln w="12700">
            <a:solidFill>
              <a:srgbClr val="8C3FD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01632" y="3630168"/>
            <a:ext cx="364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 con sonido del momento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10893247" y="36301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7201632" y="3941064"/>
            <a:ext cx="4423136" cy="118872"/>
          </a:xfrm>
          <a:prstGeom prst="rect">
            <a:avLst/>
          </a:prstGeom>
          <a:solidFill>
            <a:srgbClr val="E0D8C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01632" y="3941064"/>
            <a:ext cx="3626971" cy="118872"/>
          </a:xfrm>
          <a:prstGeom prst="rect">
            <a:avLst/>
          </a:prstGeom>
          <a:solidFill>
            <a:srgbClr val="8C3FDB"/>
          </a:solidFill>
          <a:ln w="12700">
            <a:solidFill>
              <a:srgbClr val="8C3FD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201632" y="4325112"/>
            <a:ext cx="364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Tutorial de fade en 30 segundos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10893247" y="43251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</a:t>
            </a:r>
            <a:endParaRPr lang="en-US" sz="1900" dirty="0"/>
          </a:p>
        </p:txBody>
      </p:sp>
      <p:sp>
        <p:nvSpPr>
          <p:cNvPr id="35" name="Shape 33"/>
          <p:cNvSpPr/>
          <p:nvPr/>
        </p:nvSpPr>
        <p:spPr>
          <a:xfrm>
            <a:off x="7201632" y="4636008"/>
            <a:ext cx="4423136" cy="118872"/>
          </a:xfrm>
          <a:prstGeom prst="rect">
            <a:avLst/>
          </a:prstGeom>
          <a:solidFill>
            <a:srgbClr val="E0D8C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01632" y="4636008"/>
            <a:ext cx="3317352" cy="118872"/>
          </a:xfrm>
          <a:prstGeom prst="rect">
            <a:avLst/>
          </a:prstGeom>
          <a:solidFill>
            <a:srgbClr val="C3B6DC"/>
          </a:solidFill>
          <a:ln w="12700">
            <a:solidFill>
              <a:srgbClr val="C3B6D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66928" y="534924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idea de 5.0 llega a 8.0 en dos minutos de conversación. Por eso se puntúa ANTES, no después.</a:t>
            </a:r>
            <a:endParaRPr lang="en-US" sz="1450" dirty="0"/>
          </a:p>
        </p:txBody>
      </p:sp>
      <p:pic>
        <p:nvPicPr>
          <p:cNvPr id="38" name="Image 0" descr="/Users/elija/Documents/GitHub/BRUNETTICUTZ/workshop/assets/logo-brunetti-mor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199632"/>
            <a:ext cx="968121" cy="237744"/>
          </a:xfrm>
          <a:prstGeom prst="rect">
            <a:avLst/>
          </a:prstGeom>
        </p:spPr>
      </p:pic>
      <p:sp>
        <p:nvSpPr>
          <p:cNvPr id="39" name="Text 36"/>
          <p:cNvSpPr txBox="1"/>
          <p:nvPr/>
        </p:nvSpPr>
        <p:spPr>
          <a:xfrm>
            <a:off x="6095848" y="6199632"/>
            <a:ext cx="552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3 / 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lija/Documents/GitHub/BRUNETTICUTZ/workshop/assets/icons/reloj-mor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621" y="469453"/>
            <a:ext cx="176662" cy="17666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8992" y="3657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8C3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EJERCICIO 03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8424367" y="32918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minutos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1143000"/>
            <a:ext cx="11057839" cy="118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40"/>
              </a:lnSpc>
              <a:buNone/>
            </a:pPr>
            <a:r>
              <a:rPr lang="en-US" sz="4000" b="1" spc="-9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Puntúa tu idea</a:t>
            </a:r>
            <a:endParaRPr lang="en-US" sz="4000" dirty="0"/>
          </a:p>
          <a:p>
            <a:pPr algn="l" indent="0" marL="0">
              <a:lnSpc>
                <a:spcPts val="4240"/>
              </a:lnSpc>
              <a:buNone/>
            </a:pPr>
            <a:r>
              <a:rPr lang="en-US" sz="4000" b="1" spc="-90" kern="0" dirty="0">
                <a:solidFill>
                  <a:srgbClr val="A98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vivo.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566928" y="2971800"/>
            <a:ext cx="3515258" cy="1828800"/>
          </a:xfrm>
          <a:prstGeom prst="rect">
            <a:avLst/>
          </a:prstGeom>
          <a:solidFill>
            <a:srgbClr val="241C31"/>
          </a:solidFill>
          <a:ln w="12700">
            <a:solidFill>
              <a:srgbClr val="241C3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1248" y="32004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3639312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Tomamos 3 ideas del grupo. Las evaluamos juntos, criterio por criterio, a mano alzada.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38218" y="2971800"/>
            <a:ext cx="3515258" cy="1828800"/>
          </a:xfrm>
          <a:prstGeom prst="rect">
            <a:avLst/>
          </a:prstGeom>
          <a:solidFill>
            <a:srgbClr val="241C31"/>
          </a:solidFill>
          <a:ln w="12700">
            <a:solidFill>
              <a:srgbClr val="241C3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12538" y="32004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4612538" y="3639312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Sacamos el promedio en la pizarra y decidimos: ¿se graba, se rediseña o se descarta?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109509" y="2971800"/>
            <a:ext cx="3515258" cy="1828800"/>
          </a:xfrm>
          <a:prstGeom prst="rect">
            <a:avLst/>
          </a:prstGeom>
          <a:solidFill>
            <a:srgbClr val="241C31"/>
          </a:solidFill>
          <a:ln w="12700">
            <a:solidFill>
              <a:srgbClr val="241C3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83829" y="32004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8383829" y="3639312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uno puntúa la suya en silencio. Solo se graba lo que llega a 8.</a:t>
            </a:r>
            <a:endParaRPr lang="en-US" sz="1400" dirty="0"/>
          </a:p>
        </p:txBody>
      </p:sp>
      <p:pic>
        <p:nvPicPr>
          <p:cNvPr id="15" name="Image 1" descr="/Users/elija/Documents/GitHub/BRUNETTICUTZ/workshop/assets/icons/check-lil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" y="5237683"/>
            <a:ext cx="168250" cy="16825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60704" y="51389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9A8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QUEDA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2029968" y="5138928"/>
            <a:ext cx="95947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98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idea propia con nota ≥ 8, lista para el rodaje.</a:t>
            </a:r>
            <a:endParaRPr lang="en-US" sz="15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6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lija/Documents/GitHub/BRUNETTICUTZ/workshop/assets/logo-ascension-cla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1808" y="566928"/>
            <a:ext cx="882960" cy="8686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658368"/>
            <a:ext cx="97776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A98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INVITADO ESPECIAL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2286000"/>
            <a:ext cx="11057839" cy="2548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0"/>
              </a:lnSpc>
              <a:buNone/>
            </a:pPr>
            <a:r>
              <a:rPr lang="en-US" sz="9600" b="1" spc="-9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</a:t>
            </a:r>
            <a:endParaRPr lang="en-US" sz="9600" dirty="0"/>
          </a:p>
          <a:p>
            <a:pPr algn="l" indent="0" marL="0">
              <a:lnSpc>
                <a:spcPts val="9600"/>
              </a:lnSpc>
              <a:buNone/>
            </a:pPr>
            <a:r>
              <a:rPr lang="en-US" sz="9600" b="1" spc="-90" kern="0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vivo.</a:t>
            </a:r>
            <a:endParaRPr lang="en-US" sz="96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5285232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Guarden las libretas. Saquen el teléfono. Esto no se mira: esto se graba.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8C3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CORTE EN VIVO · EL SET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201632" y="402336"/>
            <a:ext cx="442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Vertical 9:16 · tomas cortas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51560"/>
            <a:ext cx="11057839" cy="513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80"/>
              </a:lnSpc>
              <a:buNone/>
            </a:pPr>
            <a:r>
              <a:rPr lang="en-US" sz="3000" b="1" spc="-9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uno tiene un plano asignado.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2663876" cy="1170432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2093976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459736"/>
            <a:ext cx="22249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Cenital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3026664"/>
            <a:ext cx="2224964" cy="-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arriba · contexto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65221" y="1874520"/>
            <a:ext cx="2663876" cy="1170432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84677" y="2093976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84677" y="2459736"/>
            <a:ext cx="22249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84677" y="3026664"/>
            <a:ext cx="2224964" cy="-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Close-up · transformación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63513" y="1874520"/>
            <a:ext cx="2663876" cy="1170432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82969" y="2093976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382969" y="2459736"/>
            <a:ext cx="22249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382969" y="3026664"/>
            <a:ext cx="2224964" cy="-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abierto · profesionalismo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61806" y="1874520"/>
            <a:ext cx="2663876" cy="1170432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81262" y="2093976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181262" y="2459736"/>
            <a:ext cx="22249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 de vista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181262" y="3026664"/>
            <a:ext cx="2224964" cy="-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ve el cliente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3200400"/>
            <a:ext cx="2663876" cy="1170432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6384" y="3419856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" y="3785616"/>
            <a:ext cx="22249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 level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86384" y="4352544"/>
            <a:ext cx="2224964" cy="-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los ojos · conexión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365221" y="3200400"/>
            <a:ext cx="2663876" cy="1170432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84677" y="3419856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3584677" y="3785616"/>
            <a:ext cx="22249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Contrapicado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3584677" y="4352544"/>
            <a:ext cx="2224964" cy="-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abajo · engrandecer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63513" y="3200400"/>
            <a:ext cx="2663876" cy="1170432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82969" y="3419856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6382969" y="3785616"/>
            <a:ext cx="22249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Picado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382969" y="4352544"/>
            <a:ext cx="2224964" cy="-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arriba · dramatismo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961806" y="3200400"/>
            <a:ext cx="2663876" cy="1170432"/>
          </a:xfrm>
          <a:prstGeom prst="rect">
            <a:avLst/>
          </a:prstGeom>
          <a:solidFill>
            <a:srgbClr val="8C3FDB"/>
          </a:solidFill>
          <a:ln w="12700">
            <a:solidFill>
              <a:srgbClr val="8C3FDB"/>
            </a:solidFill>
            <a:prstDash val="solid"/>
          </a:ln>
        </p:spPr>
      </p:sp>
      <p:pic>
        <p:nvPicPr>
          <p:cNvPr id="34" name="Image 0" descr="/Users/elija/Documents/GitHub/BRUNETTICUTZ/workshop/assets/icons/camara-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4955" y="3450397"/>
            <a:ext cx="176662" cy="176662"/>
          </a:xfrm>
          <a:prstGeom prst="rect">
            <a:avLst/>
          </a:prstGeom>
        </p:spPr>
      </p:pic>
      <p:sp>
        <p:nvSpPr>
          <p:cNvPr id="35" name="Text 32"/>
          <p:cNvSpPr txBox="1"/>
          <p:nvPr/>
        </p:nvSpPr>
        <p:spPr>
          <a:xfrm>
            <a:off x="9638462" y="3346704"/>
            <a:ext cx="1767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SILENCIO DE CÁMARA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9181262" y="3794760"/>
            <a:ext cx="22249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primer pase de máquina y el reveal en el espejo. Esos dos viralizan.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66928" y="489204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plano es obligatorio; el resto es libre. Muchas tomas cortas, nunca una sola larga.</a:t>
            </a:r>
            <a:endParaRPr lang="en-US" sz="1500" dirty="0"/>
          </a:p>
        </p:txBody>
      </p:sp>
      <p:pic>
        <p:nvPicPr>
          <p:cNvPr id="38" name="Image 1" descr="/Users/elija/Documents/GitHub/BRUNETTICUTZ/workshop/assets/logo-brunetti-mora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199632"/>
            <a:ext cx="968121" cy="237744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6095848" y="6199632"/>
            <a:ext cx="552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CORTE EN VIVO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6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lija/Documents/GitHub/BRUNETTICUTZ/workshop/assets/icons/reloj-mor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621" y="469453"/>
            <a:ext cx="176662" cy="17666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8992" y="3657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8C3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EJERCICIO 04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8424367" y="32918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minutos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1143000"/>
            <a:ext cx="11057839" cy="118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40"/>
              </a:lnSpc>
              <a:buNone/>
            </a:pPr>
            <a:r>
              <a:rPr lang="en-US" sz="4000" b="1" spc="-9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Graba el</a:t>
            </a:r>
            <a:endParaRPr lang="en-US" sz="4000" dirty="0"/>
          </a:p>
          <a:p>
            <a:pPr algn="l" indent="0" marL="0">
              <a:lnSpc>
                <a:spcPts val="4240"/>
              </a:lnSpc>
              <a:buNone/>
            </a:pPr>
            <a:r>
              <a:rPr lang="en-US" sz="4000" b="1" spc="-90" kern="0" dirty="0">
                <a:solidFill>
                  <a:srgbClr val="A98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 en vivo.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566928" y="2971800"/>
            <a:ext cx="3515258" cy="1828800"/>
          </a:xfrm>
          <a:prstGeom prst="rect">
            <a:avLst/>
          </a:prstGeom>
          <a:solidFill>
            <a:srgbClr val="241C31"/>
          </a:solidFill>
          <a:ln w="12700">
            <a:solidFill>
              <a:srgbClr val="241C3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1248" y="32004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3639312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plano asignado, primero. Después grabas libre todo lo que quieras.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38218" y="2971800"/>
            <a:ext cx="3515258" cy="1828800"/>
          </a:xfrm>
          <a:prstGeom prst="rect">
            <a:avLst/>
          </a:prstGeom>
          <a:solidFill>
            <a:srgbClr val="241C31"/>
          </a:solidFill>
          <a:ln w="12700">
            <a:solidFill>
              <a:srgbClr val="241C3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12538" y="32004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4612538" y="3639312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Silencio de cámara en el primer pase de máquina y en el reveal del espejo.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109509" y="2971800"/>
            <a:ext cx="3515258" cy="1828800"/>
          </a:xfrm>
          <a:prstGeom prst="rect">
            <a:avLst/>
          </a:prstGeom>
          <a:solidFill>
            <a:srgbClr val="241C31"/>
          </a:solidFill>
          <a:ln w="12700">
            <a:solidFill>
              <a:srgbClr val="241C3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83829" y="32004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8383829" y="3639312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terminar: 3 minutos de revisión. Marca tus 3 mejores clips antes de que se enfríe.</a:t>
            </a:r>
            <a:endParaRPr lang="en-US" sz="1400" dirty="0"/>
          </a:p>
        </p:txBody>
      </p:sp>
      <p:pic>
        <p:nvPicPr>
          <p:cNvPr id="15" name="Image 1" descr="/Users/elija/Documents/GitHub/BRUNETTICUTZ/workshop/assets/icons/check-lil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" y="5237683"/>
            <a:ext cx="168250" cy="16825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60704" y="51389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9A8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QUEDA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2029968" y="5138928"/>
            <a:ext cx="95947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98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real, tuyo, grabado hoy. Con esto se edita.</a:t>
            </a:r>
            <a:endParaRPr lang="en-US" sz="15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6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lija/Documents/GitHub/BRUNETTICUTZ/workshop/assets/logo-ascension-cla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1808" y="566928"/>
            <a:ext cx="882960" cy="8686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658368"/>
            <a:ext cx="97776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A98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04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2286000"/>
            <a:ext cx="11057839" cy="2090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5200" b="1" spc="-9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estructura</a:t>
            </a:r>
            <a:endParaRPr lang="en-US" sz="5200" dirty="0"/>
          </a:p>
          <a:p>
            <a:pPr algn="l" indent="0" marL="0">
              <a:lnSpc>
                <a:spcPts val="5200"/>
              </a:lnSpc>
              <a:buNone/>
            </a:pPr>
            <a:r>
              <a:rPr lang="en-US" sz="5200" b="1" spc="-9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un</a:t>
            </a:r>
            <a:endParaRPr lang="en-US" sz="5200" dirty="0"/>
          </a:p>
          <a:p>
            <a:pPr algn="l" indent="0" marL="0">
              <a:lnSpc>
                <a:spcPts val="5200"/>
              </a:lnSpc>
              <a:buNone/>
            </a:pPr>
            <a:r>
              <a:rPr lang="en-US" sz="5200" b="1" spc="-90" kern="0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viral.</a:t>
            </a:r>
            <a:endParaRPr lang="en-US" sz="52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5285232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suerte. Son 15 segundos con 4 partes que siempre se repiten.</a:t>
            </a:r>
            <a:endParaRPr lang="en-US" sz="14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8C3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04 · ANATOMÍA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201632" y="402336"/>
            <a:ext cx="442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segundos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51560"/>
            <a:ext cx="11057839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6"/>
              </a:lnSpc>
              <a:buNone/>
            </a:pPr>
            <a:r>
              <a:rPr lang="en-US" sz="3100" b="1" spc="-9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partes, quince segundos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2211568" cy="2926080"/>
          </a:xfrm>
          <a:prstGeom prst="rect">
            <a:avLst/>
          </a:prstGeom>
          <a:solidFill>
            <a:srgbClr val="16111E"/>
          </a:solidFill>
          <a:ln w="12700">
            <a:solidFill>
              <a:srgbClr val="16111E"/>
            </a:solidFill>
            <a:prstDash val="solid"/>
          </a:ln>
        </p:spPr>
      </p:sp>
      <p:pic>
        <p:nvPicPr>
          <p:cNvPr id="6" name="Image 0" descr="/Users/elija/Documents/GitHub/BRUNETTICUTZ/workshop/assets/icons/rayo-li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2226564"/>
            <a:ext cx="210312" cy="2103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2697480"/>
            <a:ext cx="173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98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– 3 s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063240"/>
            <a:ext cx="173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3639312"/>
            <a:ext cx="173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Detiene el scroll.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audio.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778496" y="1874520"/>
            <a:ext cx="2457298" cy="2926080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pic>
        <p:nvPicPr>
          <p:cNvPr id="11" name="Image 1" descr="/Users/elija/Documents/GitHub/BRUNETTICUTZ/workshop/assets/icons/ojo-lil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9684" y="2226564"/>
            <a:ext cx="210312" cy="2103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016240" y="2697480"/>
            <a:ext cx="19818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C3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– 5 s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3016240" y="3063240"/>
            <a:ext cx="19818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-5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Foreshadow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3016240" y="3639312"/>
            <a:ext cx="19818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 intriga.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Miedo a perdérselo.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235793" y="1874520"/>
            <a:ext cx="4177406" cy="2926080"/>
          </a:xfrm>
          <a:prstGeom prst="rect">
            <a:avLst/>
          </a:prstGeom>
          <a:solidFill>
            <a:srgbClr val="8C3FDB"/>
          </a:solidFill>
          <a:ln w="12700">
            <a:solidFill>
              <a:srgbClr val="8C3FDB"/>
            </a:solidFill>
            <a:prstDash val="solid"/>
          </a:ln>
        </p:spPr>
      </p:sp>
      <p:pic>
        <p:nvPicPr>
          <p:cNvPr id="16" name="Image 2" descr="/Users/elija/Documents/GitHub/BRUNETTICUTZ/workshop/assets/icons/estrella-blanc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981" y="2226564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473537" y="2697480"/>
            <a:ext cx="37019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E6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– 12 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5473537" y="3063240"/>
            <a:ext cx="37019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5473537" y="3639312"/>
            <a:ext cx="37019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Entretienes, educas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inspiras.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413199" y="1874520"/>
            <a:ext cx="2211568" cy="2926080"/>
          </a:xfrm>
          <a:prstGeom prst="rect">
            <a:avLst/>
          </a:prstGeom>
          <a:solidFill>
            <a:srgbClr val="16111E"/>
          </a:solidFill>
          <a:ln w="12700">
            <a:solidFill>
              <a:srgbClr val="16111E"/>
            </a:solidFill>
            <a:prstDash val="solid"/>
          </a:ln>
        </p:spPr>
      </p:sp>
      <p:pic>
        <p:nvPicPr>
          <p:cNvPr id="21" name="Image 3" descr="/Users/elija/Documents/GitHub/BRUNETTICUTZ/workshop/assets/icons/enlace-lil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4387" y="2226564"/>
            <a:ext cx="210312" cy="2103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650943" y="2697480"/>
            <a:ext cx="173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98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– 15 s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9650943" y="3063240"/>
            <a:ext cx="173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</a:t>
            </a:r>
            <a:endParaRPr lang="en-US" sz="2400" dirty="0"/>
          </a:p>
        </p:txBody>
      </p:sp>
      <p:sp>
        <p:nvSpPr>
          <p:cNvPr id="24" name="Text 18"/>
          <p:cNvSpPr txBox="1"/>
          <p:nvPr/>
        </p:nvSpPr>
        <p:spPr>
          <a:xfrm>
            <a:off x="9650943" y="3639312"/>
            <a:ext cx="173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Claridad, urgencia,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escasez.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566928" y="512064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Quita una parte y el video se cae. El que más se saltan es el foreshadow.</a:t>
            </a:r>
            <a:endParaRPr lang="en-US" sz="1500" dirty="0"/>
          </a:p>
        </p:txBody>
      </p:sp>
      <p:pic>
        <p:nvPicPr>
          <p:cNvPr id="26" name="Image 4" descr="/Users/elija/Documents/GitHub/BRUNETTICUTZ/workshop/assets/logo-brunetti-morad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6199632"/>
            <a:ext cx="968121" cy="2377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095848" y="6199632"/>
            <a:ext cx="552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4 / 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8C3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04 · FORMATOS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201632" y="402336"/>
            <a:ext cx="442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 entre los 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51560"/>
            <a:ext cx="11057839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6"/>
              </a:lnSpc>
              <a:buNone/>
            </a:pPr>
            <a:r>
              <a:rPr lang="en-US" sz="3100" b="1" spc="-9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grabas el lunes.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11057839" cy="585216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1911096"/>
            <a:ext cx="512064" cy="512064"/>
          </a:xfrm>
          <a:prstGeom prst="ellipse">
            <a:avLst/>
          </a:prstGeom>
          <a:solidFill>
            <a:srgbClr val="F4F0E8"/>
          </a:solidFill>
          <a:ln w="12700">
            <a:solidFill>
              <a:srgbClr val="F4F0E8"/>
            </a:solidFill>
            <a:prstDash val="solid"/>
          </a:ln>
        </p:spPr>
      </p:sp>
      <p:pic>
        <p:nvPicPr>
          <p:cNvPr id="7" name="Image 0" descr="/Users/elija/Documents/GitHub/BRUNETTICUTZ/workshop/assets/icons/capas-mor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793" y="2049353"/>
            <a:ext cx="235549" cy="23554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91056" y="1874520"/>
            <a:ext cx="486544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/ Después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095848" y="1874520"/>
            <a:ext cx="5218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transformación visual.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569464"/>
            <a:ext cx="11057839" cy="585216"/>
          </a:xfrm>
          <a:prstGeom prst="rect">
            <a:avLst/>
          </a:prstGeom>
          <a:solidFill>
            <a:srgbClr val="F4F0E8"/>
          </a:solidFill>
          <a:ln w="12700">
            <a:solidFill>
              <a:srgbClr val="F4F0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9536" y="2606040"/>
            <a:ext cx="512064" cy="512064"/>
          </a:xfrm>
          <a:prstGeom prst="ellipse">
            <a:avLst/>
          </a:prstGeom>
          <a:solidFill>
            <a:srgbClr val="F4F0E8"/>
          </a:solidFill>
          <a:ln w="12700">
            <a:solidFill>
              <a:srgbClr val="F4F0E8"/>
            </a:solidFill>
            <a:prstDash val="solid"/>
          </a:ln>
        </p:spPr>
      </p:sp>
      <p:pic>
        <p:nvPicPr>
          <p:cNvPr id="12" name="Image 1" descr="/Users/elija/Documents/GitHub/BRUNETTICUTZ/workshop/assets/icons/play-mora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793" y="2744297"/>
            <a:ext cx="235549" cy="23554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91056" y="2569464"/>
            <a:ext cx="486544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Tutorial rápido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6095848" y="2569464"/>
            <a:ext cx="5218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hace, paso a paso.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66928" y="3264408"/>
            <a:ext cx="11057839" cy="585216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59536" y="3300984"/>
            <a:ext cx="512064" cy="512064"/>
          </a:xfrm>
          <a:prstGeom prst="ellipse">
            <a:avLst/>
          </a:prstGeom>
          <a:solidFill>
            <a:srgbClr val="F4F0E8"/>
          </a:solidFill>
          <a:ln w="12700">
            <a:solidFill>
              <a:srgbClr val="F4F0E8"/>
            </a:solidFill>
            <a:prstDash val="solid"/>
          </a:ln>
        </p:spPr>
      </p:sp>
      <p:pic>
        <p:nvPicPr>
          <p:cNvPr id="17" name="Image 2" descr="/Users/elija/Documents/GitHub/BRUNETTICUTZ/workshop/assets/icons/tijera-morad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793" y="3439241"/>
            <a:ext cx="235549" cy="235549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591056" y="3264408"/>
            <a:ext cx="486544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Satisfacción visual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095848" y="3264408"/>
            <a:ext cx="5218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corte limpio y preciso. ASMR.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566928" y="3959352"/>
            <a:ext cx="11057839" cy="585216"/>
          </a:xfrm>
          <a:prstGeom prst="rect">
            <a:avLst/>
          </a:prstGeom>
          <a:solidFill>
            <a:srgbClr val="F4F0E8"/>
          </a:solidFill>
          <a:ln w="12700">
            <a:solidFill>
              <a:srgbClr val="F4F0E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59536" y="3995928"/>
            <a:ext cx="512064" cy="512064"/>
          </a:xfrm>
          <a:prstGeom prst="ellipse">
            <a:avLst/>
          </a:prstGeom>
          <a:solidFill>
            <a:srgbClr val="F4F0E8"/>
          </a:solidFill>
          <a:ln w="12700">
            <a:solidFill>
              <a:srgbClr val="F4F0E8"/>
            </a:solidFill>
            <a:prstDash val="solid"/>
          </a:ln>
        </p:spPr>
      </p:sp>
      <p:pic>
        <p:nvPicPr>
          <p:cNvPr id="22" name="Image 3" descr="/Users/elija/Documents/GitHub/BRUNETTICUTZ/workshop/assets/icons/corazon-morad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793" y="4134185"/>
            <a:ext cx="235549" cy="235549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591056" y="3959352"/>
            <a:ext cx="486544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Reacción genuina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6095848" y="3959352"/>
            <a:ext cx="5218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cliente viéndose en el espejo.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566928" y="4654296"/>
            <a:ext cx="11057839" cy="585216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59536" y="4690872"/>
            <a:ext cx="512064" cy="512064"/>
          </a:xfrm>
          <a:prstGeom prst="ellipse">
            <a:avLst/>
          </a:prstGeom>
          <a:solidFill>
            <a:srgbClr val="F4F0E8"/>
          </a:solidFill>
          <a:ln w="12700">
            <a:solidFill>
              <a:srgbClr val="F4F0E8"/>
            </a:solidFill>
            <a:prstDash val="solid"/>
          </a:ln>
        </p:spPr>
      </p:sp>
      <p:pic>
        <p:nvPicPr>
          <p:cNvPr id="27" name="Image 4" descr="/Users/elija/Documents/GitHub/BRUNETTICUTZ/workshop/assets/icons/compartir-morad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793" y="4829129"/>
            <a:ext cx="235549" cy="235549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591056" y="4654296"/>
            <a:ext cx="486544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 / Trend</a:t>
            </a:r>
            <a:endParaRPr lang="en-US" sz="1800" dirty="0"/>
          </a:p>
        </p:txBody>
      </p:sp>
      <p:sp>
        <p:nvSpPr>
          <p:cNvPr id="29" name="Text 22"/>
          <p:cNvSpPr txBox="1"/>
          <p:nvPr/>
        </p:nvSpPr>
        <p:spPr>
          <a:xfrm>
            <a:off x="6095848" y="4654296"/>
            <a:ext cx="5218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 nueva + sonido del momento.</a:t>
            </a:r>
            <a:endParaRPr lang="en-US" sz="1350" dirty="0"/>
          </a:p>
        </p:txBody>
      </p:sp>
      <p:sp>
        <p:nvSpPr>
          <p:cNvPr id="30" name="Text 23"/>
          <p:cNvSpPr txBox="1"/>
          <p:nvPr/>
        </p:nvSpPr>
        <p:spPr>
          <a:xfrm>
            <a:off x="566928" y="544068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antes/después es hook Y formato a la vez: por eso funciona tanto. Pero si subes solo eso, cansas a tu audiencia.</a:t>
            </a:r>
            <a:endParaRPr lang="en-US" sz="1450" dirty="0"/>
          </a:p>
        </p:txBody>
      </p:sp>
      <p:pic>
        <p:nvPicPr>
          <p:cNvPr id="31" name="Image 5" descr="/Users/elija/Documents/GitHub/BRUNETTICUTZ/workshop/assets/logo-brunetti-morad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6199632"/>
            <a:ext cx="968121" cy="23774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095848" y="6199632"/>
            <a:ext cx="552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4 / 5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8C3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04 · GUIONIZACIÓN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43000"/>
            <a:ext cx="11057839" cy="998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98"/>
              </a:lnSpc>
              <a:buNone/>
            </a:pPr>
            <a:r>
              <a:rPr lang="en-US" sz="3300" b="1" spc="-9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saltas una pregunta,</a:t>
            </a:r>
            <a:endParaRPr lang="en-US" sz="3300" dirty="0"/>
          </a:p>
          <a:p>
            <a:pPr algn="l" indent="0" marL="0">
              <a:lnSpc>
                <a:spcPts val="3498"/>
              </a:lnSpc>
              <a:buNone/>
            </a:pPr>
            <a:r>
              <a:rPr lang="en-US" sz="3300" b="1" spc="-90" kern="0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video muere.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286000"/>
            <a:ext cx="44231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Escribe las 5 preguntas que se va a hacer tu audiencia y respóndelas EN ORDEN, antes de que las piensen.</a:t>
            </a:r>
            <a:endParaRPr lang="en-US" sz="1500" dirty="0"/>
          </a:p>
        </p:txBody>
      </p:sp>
      <p:pic>
        <p:nvPicPr>
          <p:cNvPr id="5" name="Image 0" descr="/Users/elija/Documents/GitHub/BRUNETTICUTZ/workshop/assets/icons/chispa-mor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559" y="4086271"/>
            <a:ext cx="185075" cy="18507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3856" y="3913632"/>
            <a:ext cx="42019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Invierte la expectativa: la primicia del paso 02 es lo que hace que se queden.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653534" y="1234440"/>
            <a:ext cx="5971233" cy="914400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09566" y="134416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567934" y="1344168"/>
            <a:ext cx="478251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512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PLANTEA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567934" y="1655064"/>
            <a:ext cx="47825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“¿Vale la pena gastar 10x más?”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567934" y="1892808"/>
            <a:ext cx="478251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intriga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653534" y="2286000"/>
            <a:ext cx="5971233" cy="914400"/>
          </a:xfrm>
          <a:prstGeom prst="rect">
            <a:avLst/>
          </a:prstGeom>
          <a:solidFill>
            <a:srgbClr val="8C3FDB"/>
          </a:solidFill>
          <a:ln w="12700">
            <a:solidFill>
              <a:srgbClr val="8C3FD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09566" y="239572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6567934" y="2395728"/>
            <a:ext cx="478251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PRIMICIA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6567934" y="2706624"/>
            <a:ext cx="47825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“Sorpresa: no.”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567934" y="2944368"/>
            <a:ext cx="478251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Invierte la expectativa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653534" y="3337560"/>
            <a:ext cx="5971233" cy="914400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09566" y="344728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6567934" y="3447288"/>
            <a:ext cx="478251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512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DEMUESTRA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6567934" y="3758184"/>
            <a:ext cx="47825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Muestras lado a lado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567934" y="3995928"/>
            <a:ext cx="478251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visual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653534" y="4389120"/>
            <a:ext cx="5971233" cy="914400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909566" y="449884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6567934" y="4498848"/>
            <a:ext cx="478251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512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CIERRA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6567934" y="4809744"/>
            <a:ext cx="47825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“Nuestro recomendado: $50k”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567934" y="5047488"/>
            <a:ext cx="478251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clara</a:t>
            </a:r>
            <a:endParaRPr lang="en-US" sz="1150" dirty="0"/>
          </a:p>
        </p:txBody>
      </p:sp>
      <p:pic>
        <p:nvPicPr>
          <p:cNvPr id="27" name="Image 1" descr="/Users/elija/Documents/GitHub/BRUNETTICUTZ/workshop/assets/logo-brunetti-mora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199632"/>
            <a:ext cx="968121" cy="237744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6095848" y="6199632"/>
            <a:ext cx="552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4 / 5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8C3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04 · FRAMEWORK DE EDICIÓN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201632" y="402336"/>
            <a:ext cx="442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CapCut · 4 pasos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51560"/>
            <a:ext cx="11057839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6"/>
              </a:lnSpc>
              <a:buNone/>
            </a:pPr>
            <a:r>
              <a:rPr lang="en-US" sz="3100" b="1" spc="-9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Basura adentro = basura afuera.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11057839" cy="640080"/>
          </a:xfrm>
          <a:prstGeom prst="rect">
            <a:avLst/>
          </a:prstGeom>
          <a:solidFill>
            <a:srgbClr val="16111E"/>
          </a:solidFill>
          <a:ln w="12700">
            <a:solidFill>
              <a:srgbClr val="1611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1938528"/>
            <a:ext cx="512064" cy="512064"/>
          </a:xfrm>
          <a:prstGeom prst="ellipse">
            <a:avLst/>
          </a:prstGeom>
          <a:solidFill>
            <a:srgbClr val="8C3FDB"/>
          </a:solidFill>
          <a:ln w="12700">
            <a:solidFill>
              <a:srgbClr val="8C3FDB"/>
            </a:solidFill>
            <a:prstDash val="solid"/>
          </a:ln>
        </p:spPr>
      </p:sp>
      <p:pic>
        <p:nvPicPr>
          <p:cNvPr id="7" name="Image 0" descr="/Users/elija/Documents/GitHub/BRUNETTICUTZ/workshop/assets/icons/filtro-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793" y="2076785"/>
            <a:ext cx="235549" cy="23554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91056" y="1874520"/>
            <a:ext cx="48654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3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 y selecciona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095848" y="1874520"/>
            <a:ext cx="5218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A98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lo mejor entra al timeline.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642616"/>
            <a:ext cx="11057839" cy="640080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9536" y="2706624"/>
            <a:ext cx="512064" cy="512064"/>
          </a:xfrm>
          <a:prstGeom prst="ellipse">
            <a:avLst/>
          </a:prstGeom>
          <a:solidFill>
            <a:srgbClr val="F4F0E8"/>
          </a:solidFill>
          <a:ln w="12700">
            <a:solidFill>
              <a:srgbClr val="F4F0E8"/>
            </a:solidFill>
            <a:prstDash val="solid"/>
          </a:ln>
        </p:spPr>
      </p:sp>
      <p:pic>
        <p:nvPicPr>
          <p:cNvPr id="12" name="Image 1" descr="/Users/elija/Documents/GitHub/BRUNETTICUTZ/workshop/assets/icons/capas-mora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793" y="2844881"/>
            <a:ext cx="235549" cy="23554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91056" y="2642616"/>
            <a:ext cx="48654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y corta silencios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6095848" y="2642616"/>
            <a:ext cx="5218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 los muertos. Ritmo constante.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66928" y="3410712"/>
            <a:ext cx="11057839" cy="640080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59536" y="3474720"/>
            <a:ext cx="512064" cy="512064"/>
          </a:xfrm>
          <a:prstGeom prst="ellipse">
            <a:avLst/>
          </a:prstGeom>
          <a:solidFill>
            <a:srgbClr val="F4F0E8"/>
          </a:solidFill>
          <a:ln w="12700">
            <a:solidFill>
              <a:srgbClr val="F4F0E8"/>
            </a:solidFill>
            <a:prstDash val="solid"/>
          </a:ln>
        </p:spPr>
      </p:sp>
      <p:pic>
        <p:nvPicPr>
          <p:cNvPr id="17" name="Image 2" descr="/Users/elija/Documents/GitHub/BRUNETTICUTZ/workshop/assets/icons/chispa-morad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793" y="3612977"/>
            <a:ext cx="235549" cy="235549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591056" y="3410712"/>
            <a:ext cx="48654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095848" y="3410712"/>
            <a:ext cx="5218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Subtítulos, efectos, sonido de tendencia.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566928" y="4178808"/>
            <a:ext cx="11057839" cy="640080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59536" y="4242816"/>
            <a:ext cx="512064" cy="512064"/>
          </a:xfrm>
          <a:prstGeom prst="ellipse">
            <a:avLst/>
          </a:prstGeom>
          <a:solidFill>
            <a:srgbClr val="F4F0E8"/>
          </a:solidFill>
          <a:ln w="12700">
            <a:solidFill>
              <a:srgbClr val="F4F0E8"/>
            </a:solidFill>
            <a:prstDash val="solid"/>
          </a:ln>
        </p:spPr>
      </p:sp>
      <p:pic>
        <p:nvPicPr>
          <p:cNvPr id="22" name="Image 3" descr="/Users/elija/Documents/GitHub/BRUNETTICUTZ/workshop/assets/icons/telefono-morad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793" y="4381073"/>
            <a:ext cx="235549" cy="235549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591056" y="4178808"/>
            <a:ext cx="48654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6095848" y="4178808"/>
            <a:ext cx="5218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MP4 vertical 9:16 — formato nativo.</a:t>
            </a:r>
            <a:endParaRPr lang="en-US" sz="1350" dirty="0"/>
          </a:p>
        </p:txBody>
      </p:sp>
      <p:pic>
        <p:nvPicPr>
          <p:cNvPr id="25" name="Image 4" descr="/Users/elija/Documents/GitHub/BRUNETTICUTZ/workshop/assets/icons/billete-morad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559" y="5274991"/>
            <a:ext cx="185075" cy="18507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133856" y="5102352"/>
            <a:ext cx="1049091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$100 de equipo le ganas a quien gasta $10.000. Teléfono (ya lo tienes) + micrófono ~$50 USD + trípode ~$20–50 USD.</a:t>
            </a:r>
            <a:endParaRPr lang="en-US" sz="1350" dirty="0"/>
          </a:p>
        </p:txBody>
      </p:sp>
      <p:pic>
        <p:nvPicPr>
          <p:cNvPr id="27" name="Image 5" descr="/Users/elija/Documents/GitHub/BRUNETTICUTZ/workshop/assets/logo-brunetti-morad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6199632"/>
            <a:ext cx="968121" cy="23774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095848" y="6199632"/>
            <a:ext cx="552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4 / 5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6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lija/Documents/GitHub/BRUNETTICUTZ/workshop/assets/icons/reloj-mor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621" y="469453"/>
            <a:ext cx="176662" cy="17666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8992" y="3657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8C3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EJERCICIO 05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8424367" y="32918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minutos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1143000"/>
            <a:ext cx="11057839" cy="118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40"/>
              </a:lnSpc>
              <a:buNone/>
            </a:pPr>
            <a:r>
              <a:rPr lang="en-US" sz="4000" b="1" spc="-9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</a:t>
            </a:r>
            <a:endParaRPr lang="en-US" sz="4000" dirty="0"/>
          </a:p>
          <a:p>
            <a:pPr algn="l" indent="0" marL="0">
              <a:lnSpc>
                <a:spcPts val="4240"/>
              </a:lnSpc>
              <a:buNone/>
            </a:pPr>
            <a:r>
              <a:rPr lang="en-US" sz="4000" b="1" spc="-90" kern="0" dirty="0">
                <a:solidFill>
                  <a:srgbClr val="A98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edición.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566928" y="2971800"/>
            <a:ext cx="3515258" cy="1828800"/>
          </a:xfrm>
          <a:prstGeom prst="rect">
            <a:avLst/>
          </a:prstGeom>
          <a:solidFill>
            <a:srgbClr val="241C31"/>
          </a:solidFill>
          <a:ln w="12700">
            <a:solidFill>
              <a:srgbClr val="241C3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1248" y="32004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3639312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CapCut con el material del corte en vivo. Solo tus 3 mejores clips entran.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38218" y="2971800"/>
            <a:ext cx="3515258" cy="1828800"/>
          </a:xfrm>
          <a:prstGeom prst="rect">
            <a:avLst/>
          </a:prstGeom>
          <a:solidFill>
            <a:srgbClr val="241C31"/>
          </a:solidFill>
          <a:ln w="12700">
            <a:solidFill>
              <a:srgbClr val="241C3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12538" y="32004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4612538" y="3639312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Arma los 15 segundos: hook, foreshadow, valor, CTA. Cronométralo de verdad.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109509" y="2971800"/>
            <a:ext cx="3515258" cy="1828800"/>
          </a:xfrm>
          <a:prstGeom prst="rect">
            <a:avLst/>
          </a:prstGeom>
          <a:solidFill>
            <a:srgbClr val="241C31"/>
          </a:solidFill>
          <a:ln w="12700">
            <a:solidFill>
              <a:srgbClr val="241C3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83829" y="32004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8383829" y="3639312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Subtítulos, sonido de tendencia, y exportas en MP4 vertical 9:16.</a:t>
            </a:r>
            <a:endParaRPr lang="en-US" sz="1400" dirty="0"/>
          </a:p>
        </p:txBody>
      </p:sp>
      <p:pic>
        <p:nvPicPr>
          <p:cNvPr id="15" name="Image 1" descr="/Users/elija/Documents/GitHub/BRUNETTICUTZ/workshop/assets/icons/check-lil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" y="5237683"/>
            <a:ext cx="168250" cy="16825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60704" y="51389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9A8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QUEDA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2029968" y="5138928"/>
            <a:ext cx="95947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98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video de 15 segundos exportado y listo para publicar.</a:t>
            </a:r>
            <a:endParaRPr lang="en-US" sz="15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6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lija/Documents/GitHub/BRUNETTICUTZ/workshop/assets/bruno-cortand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023360" cy="6858000"/>
          </a:xfrm>
          <a:prstGeom prst="rect">
            <a:avLst/>
          </a:prstGeom>
        </p:spPr>
      </p:pic>
      <p:pic>
        <p:nvPicPr>
          <p:cNvPr id="3" name="Image 1" descr="/Users/elija/Documents/GitHub/BRUNETTICUTZ/workshop/assets/logo-ascension-cla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1808" y="566928"/>
            <a:ext cx="882960" cy="8686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26280" y="658368"/>
            <a:ext cx="581832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A98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05</a:t>
            </a:r>
            <a:endParaRPr lang="en-US" sz="1150" dirty="0"/>
          </a:p>
        </p:txBody>
      </p:sp>
      <p:sp>
        <p:nvSpPr>
          <p:cNvPr id="5" name="Text 1"/>
          <p:cNvSpPr txBox="1"/>
          <p:nvPr/>
        </p:nvSpPr>
        <p:spPr>
          <a:xfrm>
            <a:off x="4526280" y="2286000"/>
            <a:ext cx="7098487" cy="158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00"/>
              </a:lnSpc>
              <a:buNone/>
            </a:pPr>
            <a:r>
              <a:rPr lang="en-US" sz="5800" b="1" spc="-9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scroll</a:t>
            </a:r>
            <a:endParaRPr lang="en-US" sz="5800" dirty="0"/>
          </a:p>
          <a:p>
            <a:pPr algn="l" indent="0" marL="0">
              <a:lnSpc>
                <a:spcPts val="5800"/>
              </a:lnSpc>
              <a:buNone/>
            </a:pPr>
            <a:r>
              <a:rPr lang="en-US" sz="5800" b="1" spc="-90" kern="0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 silla.</a:t>
            </a:r>
            <a:endParaRPr lang="en-US" sz="5800" dirty="0"/>
          </a:p>
        </p:txBody>
      </p:sp>
      <p:sp>
        <p:nvSpPr>
          <p:cNvPr id="6" name="Text 2"/>
          <p:cNvSpPr txBox="1"/>
          <p:nvPr/>
        </p:nvSpPr>
        <p:spPr>
          <a:xfrm>
            <a:off x="4526280" y="5285232"/>
            <a:ext cx="709848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Tienen el video. Lo que falta es el camino que convierte al que mira en un cliente sentado.</a:t>
            </a:r>
            <a:endParaRPr lang="en-US" sz="14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6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A98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05 · EL SISTEMA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201632" y="402336"/>
            <a:ext cx="442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9A8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paso 4 es donde falla la mayoría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51560"/>
            <a:ext cx="11057839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6"/>
              </a:lnSpc>
              <a:buNone/>
            </a:pPr>
            <a:r>
              <a:rPr lang="en-US" sz="3600" b="1" spc="-9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UN paso.</a:t>
            </a:r>
            <a:endParaRPr lang="en-US" sz="3600" dirty="0"/>
          </a:p>
          <a:p>
            <a:pPr algn="l" indent="0" marL="0">
              <a:lnSpc>
                <a:spcPts val="3816"/>
              </a:lnSpc>
              <a:buNone/>
            </a:pPr>
            <a:r>
              <a:rPr lang="en-US" sz="3600" b="1" spc="-90" kern="0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 SISTEMA.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2599868" cy="1170432"/>
          </a:xfrm>
          <a:prstGeom prst="rect">
            <a:avLst/>
          </a:prstGeom>
          <a:solidFill>
            <a:srgbClr val="241C31"/>
          </a:solidFill>
          <a:ln w="12700">
            <a:solidFill>
              <a:srgbClr val="241C31"/>
            </a:solidFill>
            <a:prstDash val="solid"/>
          </a:ln>
        </p:spPr>
      </p:sp>
      <p:pic>
        <p:nvPicPr>
          <p:cNvPr id="6" name="Image 0" descr="/Users/elija/Documents/GitHub/BRUNETTICUTZ/workshop/assets/icons/play-li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303" y="2577511"/>
            <a:ext cx="185075" cy="1850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490140" y="24323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926080"/>
            <a:ext cx="2124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2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viral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3182112"/>
            <a:ext cx="21243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hook detiene el scroll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86252" y="2286000"/>
            <a:ext cx="2599868" cy="1170432"/>
          </a:xfrm>
          <a:prstGeom prst="rect">
            <a:avLst/>
          </a:prstGeom>
          <a:solidFill>
            <a:srgbClr val="241C31"/>
          </a:solidFill>
          <a:ln w="12700">
            <a:solidFill>
              <a:srgbClr val="241C31"/>
            </a:solidFill>
            <a:prstDash val="solid"/>
          </a:ln>
        </p:spPr>
      </p:sp>
      <p:pic>
        <p:nvPicPr>
          <p:cNvPr id="11" name="Image 1" descr="/Users/elija/Documents/GitHub/BRUNETTICUTZ/workshop/assets/icons/ojo-lil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2627" y="2577511"/>
            <a:ext cx="185075" cy="18507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09464" y="24323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623996" y="2926080"/>
            <a:ext cx="2124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2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Alguien ve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623996" y="3182112"/>
            <a:ext cx="21243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algoritmo distribuye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05576" y="2286000"/>
            <a:ext cx="2599868" cy="1170432"/>
          </a:xfrm>
          <a:prstGeom prst="rect">
            <a:avLst/>
          </a:prstGeom>
          <a:solidFill>
            <a:srgbClr val="241C31"/>
          </a:solidFill>
          <a:ln w="12700">
            <a:solidFill>
              <a:srgbClr val="241C31"/>
            </a:solidFill>
            <a:prstDash val="solid"/>
          </a:ln>
        </p:spPr>
      </p:sp>
      <p:pic>
        <p:nvPicPr>
          <p:cNvPr id="16" name="Image 2" descr="/Users/elija/Documents/GitHub/BRUNETTICUTZ/workshop/assets/icons/personas-lil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950" y="2577511"/>
            <a:ext cx="185075" cy="18507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128787" y="24323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443320" y="2926080"/>
            <a:ext cx="2124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2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 sigue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443320" y="3182112"/>
            <a:ext cx="21243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Empieza a confiar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024899" y="2286000"/>
            <a:ext cx="2599868" cy="1170432"/>
          </a:xfrm>
          <a:prstGeom prst="rect">
            <a:avLst/>
          </a:prstGeom>
          <a:solidFill>
            <a:srgbClr val="8C3FDB"/>
          </a:solidFill>
          <a:ln w="12700">
            <a:solidFill>
              <a:srgbClr val="8C3FDB"/>
            </a:solidFill>
            <a:prstDash val="solid"/>
          </a:ln>
        </p:spPr>
      </p:sp>
      <p:pic>
        <p:nvPicPr>
          <p:cNvPr id="21" name="Image 3" descr="/Users/elija/Documents/GitHub/BRUNETTICUTZ/workshop/assets/icons/enlace-blanc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1274" y="2577511"/>
            <a:ext cx="185075" cy="18507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948111" y="24323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6D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9262643" y="2926080"/>
            <a:ext cx="2124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en bio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9262643" y="3182112"/>
            <a:ext cx="21243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directo a WhatsApp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66928" y="3657600"/>
            <a:ext cx="2599868" cy="1170432"/>
          </a:xfrm>
          <a:prstGeom prst="rect">
            <a:avLst/>
          </a:prstGeom>
          <a:solidFill>
            <a:srgbClr val="241C31"/>
          </a:solidFill>
          <a:ln w="12700">
            <a:solidFill>
              <a:srgbClr val="241C31"/>
            </a:solidFill>
            <a:prstDash val="solid"/>
          </a:ln>
        </p:spPr>
      </p:sp>
      <p:pic>
        <p:nvPicPr>
          <p:cNvPr id="26" name="Image 4" descr="/Users/elija/Documents/GitHub/BRUNETTICUTZ/workshop/assets/icons/chat-lil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303" y="3949111"/>
            <a:ext cx="185075" cy="18507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2490140" y="38039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804672" y="4297680"/>
            <a:ext cx="2124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2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804672" y="4553712"/>
            <a:ext cx="21243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Llega el mensaje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3386252" y="3657600"/>
            <a:ext cx="2599868" cy="1170432"/>
          </a:xfrm>
          <a:prstGeom prst="rect">
            <a:avLst/>
          </a:prstGeom>
          <a:solidFill>
            <a:srgbClr val="241C31"/>
          </a:solidFill>
          <a:ln w="12700">
            <a:solidFill>
              <a:srgbClr val="241C31"/>
            </a:solidFill>
            <a:prstDash val="solid"/>
          </a:ln>
        </p:spPr>
      </p:sp>
      <p:pic>
        <p:nvPicPr>
          <p:cNvPr id="31" name="Image 5" descr="/Users/elija/Documents/GitHub/BRUNETTICUTZ/workshop/assets/icons/check-lil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2627" y="3949111"/>
            <a:ext cx="185075" cy="18507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309464" y="38039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25"/>
          <p:cNvSpPr txBox="1"/>
          <p:nvPr/>
        </p:nvSpPr>
        <p:spPr>
          <a:xfrm>
            <a:off x="3623996" y="4297680"/>
            <a:ext cx="2124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2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Cierras la venta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3623996" y="4553712"/>
            <a:ext cx="21243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horarios, no preguntas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6205576" y="3657600"/>
            <a:ext cx="2599868" cy="1170432"/>
          </a:xfrm>
          <a:prstGeom prst="rect">
            <a:avLst/>
          </a:prstGeom>
          <a:solidFill>
            <a:srgbClr val="241C31"/>
          </a:solidFill>
          <a:ln w="12700">
            <a:solidFill>
              <a:srgbClr val="241C31"/>
            </a:solidFill>
            <a:prstDash val="solid"/>
          </a:ln>
        </p:spPr>
      </p:sp>
      <p:pic>
        <p:nvPicPr>
          <p:cNvPr id="36" name="Image 6" descr="/Users/elija/Documents/GitHub/BRUNETTICUTZ/workshop/assets/icons/premio-lil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1950" y="3949111"/>
            <a:ext cx="185075" cy="185075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8128787" y="38039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38" name="Text 29"/>
          <p:cNvSpPr txBox="1"/>
          <p:nvPr/>
        </p:nvSpPr>
        <p:spPr>
          <a:xfrm>
            <a:off x="6443320" y="4297680"/>
            <a:ext cx="2124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2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Leal + referidos</a:t>
            </a:r>
            <a:endParaRPr lang="en-US" sz="1500" dirty="0"/>
          </a:p>
        </p:txBody>
      </p:sp>
      <p:sp>
        <p:nvSpPr>
          <p:cNvPr id="39" name="Text 30"/>
          <p:cNvSpPr txBox="1"/>
          <p:nvPr/>
        </p:nvSpPr>
        <p:spPr>
          <a:xfrm>
            <a:off x="6443320" y="4553712"/>
            <a:ext cx="21243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Recomienda 2–3 amigos</a:t>
            </a:r>
            <a:endParaRPr lang="en-US" sz="1050" dirty="0"/>
          </a:p>
        </p:txBody>
      </p:sp>
      <p:sp>
        <p:nvSpPr>
          <p:cNvPr id="40" name="Text 31"/>
          <p:cNvSpPr txBox="1"/>
          <p:nvPr/>
        </p:nvSpPr>
        <p:spPr>
          <a:xfrm>
            <a:off x="566928" y="5230368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viral sin sistema = nada. Y el link de la bio va DIRECTO a WhatsApp: no a una web, no a un linktree, no al direct.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8C3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05 · PERFIL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201632" y="402336"/>
            <a:ext cx="442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 bio es tu vendedor 24/7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88720"/>
            <a:ext cx="11057839" cy="553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98"/>
              </a:lnSpc>
              <a:buNone/>
            </a:pPr>
            <a:r>
              <a:rPr lang="en-US" sz="3300" b="1" spc="-9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Claridad mata la confusión.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286000"/>
            <a:ext cx="46442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la confusión mata la conversión. Un perfil que no dice qué haces y para quién es plata tirada al piso.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3977640"/>
            <a:ext cx="457200" cy="457200"/>
          </a:xfrm>
          <a:prstGeom prst="ellipse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pic>
        <p:nvPicPr>
          <p:cNvPr id="7" name="Image 0" descr="/Users/elija/Documents/GitHub/BRUNETTICUTZ/workshop/assets/icons/reloj-mor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4101084"/>
            <a:ext cx="210312" cy="2103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25296" y="3913632"/>
            <a:ext cx="4423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Arréglala AHORA, con el teléfono en la mano. Toma 2 minutos y es el paso del embudo que más falla.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764112" y="2011680"/>
            <a:ext cx="5860655" cy="1371600"/>
          </a:xfrm>
          <a:prstGeom prst="rect">
            <a:avLst/>
          </a:prstGeom>
          <a:solidFill>
            <a:srgbClr val="16111E"/>
          </a:solidFill>
          <a:ln w="12700">
            <a:solidFill>
              <a:srgbClr val="16111E"/>
            </a:solidFill>
            <a:prstDash val="solid"/>
          </a:ln>
        </p:spPr>
      </p:sp>
      <p:pic>
        <p:nvPicPr>
          <p:cNvPr id="10" name="Image 1" descr="/Users/elija/Documents/GitHub/BRUNETTICUTZ/workshop/assets/icons/cruz-crem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0413" y="2316541"/>
            <a:ext cx="176662" cy="17666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532208" y="2212848"/>
            <a:ext cx="48548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A8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 — INFO INÚTIL</a:t>
            </a:r>
            <a:endParaRPr lang="en-US" sz="950" dirty="0"/>
          </a:p>
        </p:txBody>
      </p:sp>
      <p:sp>
        <p:nvSpPr>
          <p:cNvPr id="12" name="Text 8"/>
          <p:cNvSpPr txBox="1"/>
          <p:nvPr/>
        </p:nvSpPr>
        <p:spPr>
          <a:xfrm>
            <a:off x="6056720" y="2697480"/>
            <a:ext cx="52754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“Barbero profesional | Diseños custom | Sígueme”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764112" y="3566160"/>
            <a:ext cx="5860655" cy="1371600"/>
          </a:xfrm>
          <a:prstGeom prst="rect">
            <a:avLst/>
          </a:prstGeom>
          <a:solidFill>
            <a:srgbClr val="8C3FDB"/>
          </a:solidFill>
          <a:ln w="12700">
            <a:solidFill>
              <a:srgbClr val="8C3FDB"/>
            </a:solidFill>
            <a:prstDash val="solid"/>
          </a:ln>
        </p:spPr>
      </p:sp>
      <p:pic>
        <p:nvPicPr>
          <p:cNvPr id="14" name="Image 2" descr="/Users/elija/Documents/GitHub/BRUNETTICUTZ/workshop/assets/icons/check-blanc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0413" y="3871021"/>
            <a:ext cx="176662" cy="17666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532208" y="3767328"/>
            <a:ext cx="48548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E6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AHORA — CONVIERTE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6056720" y="4251960"/>
            <a:ext cx="52754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“Cortes desde $21k | Disponibilidad: WhatsApp 👇”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566928" y="534924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cosas y nada más: qué haces, cuánto cuesta, dónde se agenda.</a:t>
            </a:r>
            <a:endParaRPr lang="en-US" sz="1500" dirty="0"/>
          </a:p>
        </p:txBody>
      </p:sp>
      <p:pic>
        <p:nvPicPr>
          <p:cNvPr id="18" name="Image 3" descr="/Users/elija/Documents/GitHub/BRUNETTICUTZ/workshop/assets/logo-brunetti-morad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199632"/>
            <a:ext cx="968121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095848" y="6199632"/>
            <a:ext cx="552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5 / 5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8C3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05 · EL SCRIPT DE WHATSAPP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1057839" cy="54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92"/>
              </a:lnSpc>
              <a:buNone/>
            </a:pPr>
            <a:r>
              <a:rPr lang="en-US" sz="3200" b="1" spc="-9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mensaje que convierte.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5307763" cy="2834640"/>
          </a:xfrm>
          <a:prstGeom prst="rect">
            <a:avLst/>
          </a:prstGeom>
          <a:solidFill>
            <a:srgbClr val="16111E"/>
          </a:solidFill>
          <a:ln w="12700">
            <a:solidFill>
              <a:srgbClr val="16111E"/>
            </a:solidFill>
            <a:prstDash val="solid"/>
          </a:ln>
        </p:spPr>
      </p:sp>
      <p:pic>
        <p:nvPicPr>
          <p:cNvPr id="5" name="Image 0" descr="/Users/elija/Documents/GitHub/BRUNETTICUTZ/workshop/assets/icons/chat-li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743" y="2211751"/>
            <a:ext cx="185075" cy="18507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89888" y="2103120"/>
            <a:ext cx="41556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A98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96112" y="2697480"/>
            <a:ext cx="464939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550" i="1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“¡Hola! 👋 Qué bueno que viste el video.</a:t>
            </a:r>
            <a:endParaRPr lang="en-US" sz="1550" dirty="0"/>
          </a:p>
          <a:p>
            <a:pPr indent="0" marL="0">
              <a:lnSpc>
                <a:spcPts val="2900"/>
              </a:lnSpc>
              <a:buNone/>
            </a:pPr>
            <a:r>
              <a:rPr lang="en-US" sz="1550" i="1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Somos especializados en [tipo de corte].</a:t>
            </a:r>
            <a:endParaRPr lang="en-US" sz="1550" dirty="0"/>
          </a:p>
          <a:p>
            <a:pPr indent="0" marL="0">
              <a:lnSpc>
                <a:spcPts val="2900"/>
              </a:lnSpc>
              <a:buNone/>
            </a:pPr>
            <a:r>
              <a:rPr lang="en-US" sz="1550" i="1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¿Te gustaría una cita?</a:t>
            </a:r>
            <a:endParaRPr lang="en-US" sz="1550" dirty="0"/>
          </a:p>
          <a:p>
            <a:pPr indent="0" marL="0">
              <a:lnSpc>
                <a:spcPts val="2900"/>
              </a:lnSpc>
              <a:buNone/>
            </a:pPr>
            <a:r>
              <a:rPr lang="en-US" sz="1550" i="1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Tengo hoy 5pm o mañana 3pm.”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317004" y="1874520"/>
            <a:ext cx="5307763" cy="621792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pic>
        <p:nvPicPr>
          <p:cNvPr id="9" name="Image 1" descr="/Users/elija/Documents/GitHub/BRUNETTICUTZ/workshop/assets/icons/personas-mora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441" y="2097085"/>
            <a:ext cx="176662" cy="17666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066812" y="1920240"/>
            <a:ext cx="43019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Saludas — humano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7066812" y="2176272"/>
            <a:ext cx="43019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Conexión antes que venta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317004" y="2606040"/>
            <a:ext cx="5307763" cy="621792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pic>
        <p:nvPicPr>
          <p:cNvPr id="13" name="Image 2" descr="/Users/elija/Documents/GitHub/BRUNETTICUTZ/workshop/assets/icons/play-morad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441" y="2828605"/>
            <a:ext cx="176662" cy="17666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066812" y="2651760"/>
            <a:ext cx="43019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Confirmas el video</a:t>
            </a:r>
            <a:endParaRPr lang="en-US" sz="1450" dirty="0"/>
          </a:p>
        </p:txBody>
      </p:sp>
      <p:sp>
        <p:nvSpPr>
          <p:cNvPr id="15" name="Text 10"/>
          <p:cNvSpPr txBox="1"/>
          <p:nvPr/>
        </p:nvSpPr>
        <p:spPr>
          <a:xfrm>
            <a:off x="7066812" y="2907792"/>
            <a:ext cx="43019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contexto inmediato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317004" y="3337560"/>
            <a:ext cx="5307763" cy="621792"/>
          </a:xfrm>
          <a:prstGeom prst="rect">
            <a:avLst/>
          </a:prstGeom>
          <a:solidFill>
            <a:srgbClr val="8C3FDB"/>
          </a:solidFill>
          <a:ln w="12700">
            <a:solidFill>
              <a:srgbClr val="8C3FDB"/>
            </a:solidFill>
            <a:prstDash val="solid"/>
          </a:ln>
        </p:spPr>
      </p:sp>
      <p:pic>
        <p:nvPicPr>
          <p:cNvPr id="17" name="Image 3" descr="/Users/elija/Documents/GitHub/BRUNETTICUTZ/workshop/assets/icons/reloj-blanc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441" y="3560125"/>
            <a:ext cx="176662" cy="17666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066812" y="3383280"/>
            <a:ext cx="43019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opciones de horario</a:t>
            </a:r>
            <a:endParaRPr lang="en-US" sz="1450" dirty="0"/>
          </a:p>
        </p:txBody>
      </p:sp>
      <p:sp>
        <p:nvSpPr>
          <p:cNvPr id="19" name="Text 13"/>
          <p:cNvSpPr txBox="1"/>
          <p:nvPr/>
        </p:nvSpPr>
        <p:spPr>
          <a:xfrm>
            <a:off x="7066812" y="3639312"/>
            <a:ext cx="43019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Facilitas la decisión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317004" y="4069080"/>
            <a:ext cx="5307763" cy="621792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pic>
        <p:nvPicPr>
          <p:cNvPr id="21" name="Image 4" descr="/Users/elija/Documents/GitHub/BRUNETTICUTZ/workshop/assets/icons/check-morad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8441" y="4291645"/>
            <a:ext cx="176662" cy="17666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066812" y="4114800"/>
            <a:ext cx="43019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preguntas abiertas</a:t>
            </a:r>
            <a:endParaRPr lang="en-US" sz="1450" dirty="0"/>
          </a:p>
        </p:txBody>
      </p:sp>
      <p:sp>
        <p:nvSpPr>
          <p:cNvPr id="23" name="Text 16"/>
          <p:cNvSpPr txBox="1"/>
          <p:nvPr/>
        </p:nvSpPr>
        <p:spPr>
          <a:xfrm>
            <a:off x="7066812" y="4370832"/>
            <a:ext cx="43019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confusión = más cierres</a:t>
            </a:r>
            <a:endParaRPr lang="en-US" sz="1150" dirty="0"/>
          </a:p>
        </p:txBody>
      </p:sp>
      <p:sp>
        <p:nvSpPr>
          <p:cNvPr id="24" name="Text 17"/>
          <p:cNvSpPr txBox="1"/>
          <p:nvPr/>
        </p:nvSpPr>
        <p:spPr>
          <a:xfrm>
            <a:off x="566928" y="507492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si pregunta el precio: “Depende del tipo de corte, el estándar desde $21k. ¿Cuál de los dos horarios te va mejor?” No es negociar: es redirigir.</a:t>
            </a:r>
            <a:endParaRPr lang="en-US" sz="1400" dirty="0"/>
          </a:p>
        </p:txBody>
      </p:sp>
      <p:pic>
        <p:nvPicPr>
          <p:cNvPr id="25" name="Image 5" descr="/Users/elija/Documents/GitHub/BRUNETTICUTZ/workshop/assets/logo-brunetti-morad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6199632"/>
            <a:ext cx="968121" cy="237744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095848" y="6199632"/>
            <a:ext cx="552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5 / 5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6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A98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05 · PRUEBA SOCIAL Y REFERIDOS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1057839" cy="102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4"/>
              </a:lnSpc>
              <a:buNone/>
            </a:pPr>
            <a:r>
              <a:rPr lang="en-US" sz="3400" b="1" spc="-9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cada cliente trae 1 más,</a:t>
            </a:r>
            <a:endParaRPr lang="en-US" sz="3400" dirty="0"/>
          </a:p>
          <a:p>
            <a:pPr algn="l" indent="0" marL="0">
              <a:lnSpc>
                <a:spcPts val="3604"/>
              </a:lnSpc>
              <a:buNone/>
            </a:pPr>
            <a:r>
              <a:rPr lang="en-US" sz="3400" b="1" spc="-90" kern="0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duplicas ingresos.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2194560"/>
            <a:ext cx="3515258" cy="2057400"/>
          </a:xfrm>
          <a:prstGeom prst="rect">
            <a:avLst/>
          </a:prstGeom>
          <a:solidFill>
            <a:srgbClr val="241C31"/>
          </a:solidFill>
          <a:ln w="12700">
            <a:solidFill>
              <a:srgbClr val="241C31"/>
            </a:solidFill>
            <a:prstDash val="solid"/>
          </a:ln>
        </p:spPr>
      </p:sp>
      <p:pic>
        <p:nvPicPr>
          <p:cNvPr id="5" name="Image 0" descr="/Users/elija/Documents/GitHub/BRUNETTICUTZ/workshop/assets/icons/billete-li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816" y="2536728"/>
            <a:ext cx="193487" cy="19348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41248" y="3017520"/>
            <a:ext cx="29666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9A8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 DEL RECOMENDADO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841248" y="3310128"/>
            <a:ext cx="2966618" cy="492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spc="-12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3802497"/>
            <a:ext cx="2966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de adquisición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38218" y="2194560"/>
            <a:ext cx="3515258" cy="2057400"/>
          </a:xfrm>
          <a:prstGeom prst="rect">
            <a:avLst/>
          </a:prstGeom>
          <a:solidFill>
            <a:srgbClr val="8C3FDB"/>
          </a:solidFill>
          <a:ln w="12700">
            <a:solidFill>
              <a:srgbClr val="8C3FDB"/>
            </a:solidFill>
            <a:prstDash val="solid"/>
          </a:ln>
        </p:spPr>
      </p:sp>
      <p:pic>
        <p:nvPicPr>
          <p:cNvPr id="10" name="Image 1" descr="/Users/elija/Documents/GitHub/BRUNETTICUTZ/workshop/assets/icons/grafico-bl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107" y="2536728"/>
            <a:ext cx="193487" cy="19348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2538" y="3017520"/>
            <a:ext cx="29666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E6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LTV DEL RECOMENDADO</a:t>
            </a:r>
            <a:endParaRPr lang="en-US" sz="95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310128"/>
            <a:ext cx="2966618" cy="492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spc="-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$1.428.000</a:t>
            </a:r>
            <a:endParaRPr lang="en-US" sz="28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3802497"/>
            <a:ext cx="2966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 el cliente regular, a 2 años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09509" y="2194560"/>
            <a:ext cx="3515258" cy="2057400"/>
          </a:xfrm>
          <a:prstGeom prst="rect">
            <a:avLst/>
          </a:prstGeom>
          <a:solidFill>
            <a:srgbClr val="241C31"/>
          </a:solidFill>
          <a:ln w="12700">
            <a:solidFill>
              <a:srgbClr val="241C31"/>
            </a:solidFill>
            <a:prstDash val="solid"/>
          </a:ln>
        </p:spPr>
      </p:sp>
      <p:pic>
        <p:nvPicPr>
          <p:cNvPr id="15" name="Image 2" descr="/Users/elija/Documents/GitHub/BRUNETTICUTZ/workshop/assets/icons/personas-lil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7397" y="2536728"/>
            <a:ext cx="193487" cy="19348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83829" y="3017520"/>
            <a:ext cx="29666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9A8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RECOMENDADO CADA 3 MESES</a:t>
            </a:r>
            <a:endParaRPr lang="en-US" sz="950" dirty="0"/>
          </a:p>
        </p:txBody>
      </p:sp>
      <p:sp>
        <p:nvSpPr>
          <p:cNvPr id="17" name="Text 12"/>
          <p:cNvSpPr txBox="1"/>
          <p:nvPr/>
        </p:nvSpPr>
        <p:spPr>
          <a:xfrm>
            <a:off x="8383829" y="3310128"/>
            <a:ext cx="2966618" cy="492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spc="-12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$2.856.000</a:t>
            </a:r>
            <a:endParaRPr lang="en-US" sz="2800" dirty="0"/>
          </a:p>
        </p:txBody>
      </p:sp>
      <p:sp>
        <p:nvSpPr>
          <p:cNvPr id="18" name="Text 13"/>
          <p:cNvSpPr txBox="1"/>
          <p:nvPr/>
        </p:nvSpPr>
        <p:spPr>
          <a:xfrm>
            <a:off x="8383829" y="3802497"/>
            <a:ext cx="2966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al año, sin invertir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566928" y="4526280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8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pide:  “Oye, ¿te quedó bien?”  →  [dice que sí]  →  “Perfecto. Si conoces a alguien que quiera verse así, pásame su WhatsApp.”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566928" y="512064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antes de eso: 1 testimonio = 5 reels tuyos en impacto. Filmas 10 segundos después del corte. 3–4 por mes alcanzan.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8C3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05 · CRECIMIENTO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201632" y="402336"/>
            <a:ext cx="442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 4 métricas que debes trackear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51560"/>
            <a:ext cx="11057839" cy="54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92"/>
              </a:lnSpc>
              <a:buNone/>
            </a:pPr>
            <a:r>
              <a:rPr lang="en-US" sz="3200" b="1" spc="-9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números no puedes mejorar.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11057839" cy="694944"/>
          </a:xfrm>
          <a:prstGeom prst="rect">
            <a:avLst/>
          </a:prstGeom>
          <a:solidFill>
            <a:srgbClr val="16111E"/>
          </a:solidFill>
          <a:ln w="12700">
            <a:solidFill>
              <a:srgbClr val="1611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1965960"/>
            <a:ext cx="512064" cy="512064"/>
          </a:xfrm>
          <a:prstGeom prst="ellipse">
            <a:avLst/>
          </a:prstGeom>
          <a:solidFill>
            <a:srgbClr val="8C3FDB"/>
          </a:solidFill>
          <a:ln w="12700">
            <a:solidFill>
              <a:srgbClr val="8C3FDB"/>
            </a:solidFill>
            <a:prstDash val="solid"/>
          </a:ln>
        </p:spPr>
      </p:sp>
      <p:pic>
        <p:nvPicPr>
          <p:cNvPr id="7" name="Image 0" descr="/Users/elija/Documents/GitHub/BRUNETTICUTZ/workshop/assets/icons/personas-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793" y="2104217"/>
            <a:ext cx="235549" cy="23554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91056" y="1874520"/>
            <a:ext cx="486544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3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nuevos / mes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095848" y="1874520"/>
            <a:ext cx="52180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A98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¿De dónde vienen? Pregunta siempre.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697480"/>
            <a:ext cx="11057839" cy="694944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9536" y="2788920"/>
            <a:ext cx="512064" cy="512064"/>
          </a:xfrm>
          <a:prstGeom prst="ellipse">
            <a:avLst/>
          </a:prstGeom>
          <a:solidFill>
            <a:srgbClr val="F4F0E8"/>
          </a:solidFill>
          <a:ln w="12700">
            <a:solidFill>
              <a:srgbClr val="F4F0E8"/>
            </a:solidFill>
            <a:prstDash val="solid"/>
          </a:ln>
        </p:spPr>
      </p:sp>
      <p:pic>
        <p:nvPicPr>
          <p:cNvPr id="12" name="Image 1" descr="/Users/elija/Documents/GitHub/BRUNETTICUTZ/workshop/assets/icons/chat-mora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793" y="2927177"/>
            <a:ext cx="235549" cy="23554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91056" y="2697480"/>
            <a:ext cx="486544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 de conversión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6095848" y="2697480"/>
            <a:ext cx="52180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10 leads en WhatsApp, ¿cuántos cierran?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66928" y="3520440"/>
            <a:ext cx="11057839" cy="694944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59536" y="3611880"/>
            <a:ext cx="512064" cy="512064"/>
          </a:xfrm>
          <a:prstGeom prst="ellipse">
            <a:avLst/>
          </a:prstGeom>
          <a:solidFill>
            <a:srgbClr val="F4F0E8"/>
          </a:solidFill>
          <a:ln w="12700">
            <a:solidFill>
              <a:srgbClr val="F4F0E8"/>
            </a:solidFill>
            <a:prstDash val="solid"/>
          </a:ln>
        </p:spPr>
      </p:sp>
      <p:pic>
        <p:nvPicPr>
          <p:cNvPr id="17" name="Image 2" descr="/Users/elija/Documents/GitHub/BRUNETTICUTZ/workshop/assets/icons/compartir-morad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793" y="3750137"/>
            <a:ext cx="235549" cy="235549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591056" y="3520440"/>
            <a:ext cx="486544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Recomendados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095848" y="3520440"/>
            <a:ext cx="52180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10 clientes, ¿cuántos traen amigos?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566928" y="4343400"/>
            <a:ext cx="11057839" cy="694944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59536" y="4434840"/>
            <a:ext cx="512064" cy="512064"/>
          </a:xfrm>
          <a:prstGeom prst="ellipse">
            <a:avLst/>
          </a:prstGeom>
          <a:solidFill>
            <a:srgbClr val="F4F0E8"/>
          </a:solidFill>
          <a:ln w="12700">
            <a:solidFill>
              <a:srgbClr val="F4F0E8"/>
            </a:solidFill>
            <a:prstDash val="solid"/>
          </a:ln>
        </p:spPr>
      </p:sp>
      <p:pic>
        <p:nvPicPr>
          <p:cNvPr id="22" name="Image 3" descr="/Users/elija/Documents/GitHub/BRUNETTICUTZ/workshop/assets/icons/calendario-morad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793" y="4573097"/>
            <a:ext cx="235549" cy="235549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591056" y="4343400"/>
            <a:ext cx="486544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Retención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6095848" y="4343400"/>
            <a:ext cx="52180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10 nuevos, ¿cuántos vuelven en 3 meses?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566928" y="539496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no se mide no se puede escalar. Cuatro números, una vez al mes, en el teléfono.</a:t>
            </a:r>
            <a:endParaRPr lang="en-US" sz="1500" dirty="0"/>
          </a:p>
        </p:txBody>
      </p:sp>
      <p:pic>
        <p:nvPicPr>
          <p:cNvPr id="26" name="Image 4" descr="/Users/elija/Documents/GitHub/BRUNETTICUTZ/workshop/assets/logo-brunetti-morad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6199632"/>
            <a:ext cx="968121" cy="2377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095848" y="6199632"/>
            <a:ext cx="552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5 / 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6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lija/Documents/GitHub/BRUNETTICUTZ/workshop/assets/icons/premio-mor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621" y="469453"/>
            <a:ext cx="176662" cy="17666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8992" y="3657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8C3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ÚLTIMO EJERCICIO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629607" y="32918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1234440"/>
            <a:ext cx="7263079" cy="944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6"/>
              </a:lnSpc>
              <a:buNone/>
            </a:pPr>
            <a:r>
              <a:rPr lang="en-US" sz="3100" b="1" spc="-9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Publica.</a:t>
            </a:r>
            <a:endParaRPr lang="en-US" sz="3100" dirty="0"/>
          </a:p>
          <a:p>
            <a:pPr algn="l" indent="0" marL="0">
              <a:lnSpc>
                <a:spcPts val="3286"/>
              </a:lnSpc>
              <a:buNone/>
            </a:pPr>
            <a:r>
              <a:rPr lang="en-US" sz="3100" b="1" spc="-90" kern="0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entras al concurso.</a:t>
            </a:r>
            <a:endParaRPr lang="en-US" sz="3100" dirty="0"/>
          </a:p>
        </p:txBody>
      </p:sp>
      <p:pic>
        <p:nvPicPr>
          <p:cNvPr id="6" name="Image 1" descr="/Users/elija/Documents/GitHub/BRUNETTICUTZ/workshop/assets/trio-diploma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625535" y="0"/>
            <a:ext cx="3566160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3063240"/>
            <a:ext cx="2299106" cy="1097280"/>
          </a:xfrm>
          <a:prstGeom prst="rect">
            <a:avLst/>
          </a:prstGeom>
          <a:solidFill>
            <a:srgbClr val="241C31"/>
          </a:solidFill>
          <a:ln w="12700">
            <a:solidFill>
              <a:srgbClr val="241C31"/>
            </a:solidFill>
            <a:prstDash val="solid"/>
          </a:ln>
        </p:spPr>
      </p:sp>
      <p:pic>
        <p:nvPicPr>
          <p:cNvPr id="8" name="Image 2" descr="/Users/elija/Documents/GitHub/BRUNETTICUTZ/workshop/assets/icons/telefono-lil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427" y="3317443"/>
            <a:ext cx="168250" cy="16825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04672" y="3639312"/>
            <a:ext cx="1823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endParaRPr lang="en-US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804672" y="3895344"/>
            <a:ext cx="18236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marca de agua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3048914" y="3063240"/>
            <a:ext cx="2299106" cy="1097280"/>
          </a:xfrm>
          <a:prstGeom prst="rect">
            <a:avLst/>
          </a:prstGeom>
          <a:solidFill>
            <a:srgbClr val="241C31"/>
          </a:solidFill>
          <a:ln w="12700">
            <a:solidFill>
              <a:srgbClr val="241C31"/>
            </a:solidFill>
            <a:prstDash val="solid"/>
          </a:ln>
        </p:spPr>
      </p:sp>
      <p:pic>
        <p:nvPicPr>
          <p:cNvPr id="12" name="Image 3" descr="/Users/elija/Documents/GitHub/BRUNETTICUTZ/workshop/assets/icons/compartir-lil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5414" y="3317443"/>
            <a:ext cx="168250" cy="16825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3286658" y="3639312"/>
            <a:ext cx="1823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3286658" y="3895344"/>
            <a:ext cx="18236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Etiqueta a @brunetticutz</a:t>
            </a:r>
            <a:endParaRPr lang="en-US" sz="1000" dirty="0"/>
          </a:p>
        </p:txBody>
      </p:sp>
      <p:sp>
        <p:nvSpPr>
          <p:cNvPr id="15" name="Shape 9"/>
          <p:cNvSpPr/>
          <p:nvPr/>
        </p:nvSpPr>
        <p:spPr>
          <a:xfrm>
            <a:off x="5530901" y="3063240"/>
            <a:ext cx="2299106" cy="1097280"/>
          </a:xfrm>
          <a:prstGeom prst="rect">
            <a:avLst/>
          </a:prstGeom>
          <a:solidFill>
            <a:srgbClr val="241C31"/>
          </a:solidFill>
          <a:ln w="12700">
            <a:solidFill>
              <a:srgbClr val="241C31"/>
            </a:solidFill>
            <a:prstDash val="solid"/>
          </a:ln>
        </p:spPr>
      </p:sp>
      <p:pic>
        <p:nvPicPr>
          <p:cNvPr id="16" name="Image 4" descr="/Users/elija/Documents/GitHub/BRUNETTICUTZ/workshop/assets/icons/play-lil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400" y="3317443"/>
            <a:ext cx="168250" cy="16825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5768645" y="3639312"/>
            <a:ext cx="1823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Shorts</a:t>
            </a:r>
            <a:endParaRPr lang="en-US" sz="1500" dirty="0"/>
          </a:p>
        </p:txBody>
      </p:sp>
      <p:sp>
        <p:nvSpPr>
          <p:cNvPr id="18" name="Text 11"/>
          <p:cNvSpPr txBox="1"/>
          <p:nvPr/>
        </p:nvSpPr>
        <p:spPr>
          <a:xfrm>
            <a:off x="5768645" y="3895344"/>
            <a:ext cx="18236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archivo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566928" y="4343400"/>
            <a:ext cx="7263079" cy="1737360"/>
          </a:xfrm>
          <a:prstGeom prst="rect">
            <a:avLst/>
          </a:prstGeom>
          <a:solidFill>
            <a:srgbClr val="8C3FDB"/>
          </a:solidFill>
          <a:ln w="12700">
            <a:solidFill>
              <a:srgbClr val="8C3FDB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950976" y="4553712"/>
            <a:ext cx="64949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E6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CONCURSO DEL WORKSHOP</a:t>
            </a:r>
            <a:endParaRPr lang="en-US" sz="1100" dirty="0"/>
          </a:p>
        </p:txBody>
      </p:sp>
      <p:sp>
        <p:nvSpPr>
          <p:cNvPr id="21" name="Text 14"/>
          <p:cNvSpPr txBox="1"/>
          <p:nvPr/>
        </p:nvSpPr>
        <p:spPr>
          <a:xfrm>
            <a:off x="950976" y="4864608"/>
            <a:ext cx="64949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mejor reel se lleva el Kit Tadeus.</a:t>
            </a:r>
            <a:endParaRPr lang="en-US" sz="2700" dirty="0"/>
          </a:p>
        </p:txBody>
      </p:sp>
      <p:sp>
        <p:nvSpPr>
          <p:cNvPr id="22" name="Text 15"/>
          <p:cNvSpPr txBox="1"/>
          <p:nvPr/>
        </p:nvSpPr>
        <p:spPr>
          <a:xfrm>
            <a:off x="950976" y="5431536"/>
            <a:ext cx="64949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completo + capa bordada con tu nombre + gorro Brunetti. Un kit, un ganador.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8C3F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LLEVARTE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1057839" cy="54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92"/>
              </a:lnSpc>
              <a:buNone/>
            </a:pPr>
            <a:r>
              <a:rPr lang="en-US" sz="3200" b="1" spc="-9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ideas y una acción.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3515258" cy="2286000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pic>
        <p:nvPicPr>
          <p:cNvPr id="5" name="Image 0" descr="/Users/elija/Documents/GitHub/BRUNETTICUTZ/workshop/assets/icons/estrella-mor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2272284"/>
            <a:ext cx="210312" cy="2103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984906" y="21488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41248" y="2770632"/>
            <a:ext cx="29666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8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cortar mejor.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3319272"/>
            <a:ext cx="2966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valer más. El mercado paga por lo que percibe.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38218" y="1874520"/>
            <a:ext cx="3515258" cy="2286000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pic>
        <p:nvPicPr>
          <p:cNvPr id="10" name="Image 1" descr="/Users/elija/Documents/GitHub/BRUNETTICUTZ/workshop/assets/icons/ojo-mora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982" y="2272284"/>
            <a:ext cx="210312" cy="21031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56197" y="21488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2770632"/>
            <a:ext cx="29666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8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que no se ve, no se vende.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3319272"/>
            <a:ext cx="2966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no se entiende sin audio, el video ya murió.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09509" y="1874520"/>
            <a:ext cx="3515258" cy="2286000"/>
          </a:xfrm>
          <a:prstGeom prst="rect">
            <a:avLst/>
          </a:prstGeom>
          <a:solidFill>
            <a:srgbClr val="ECE6DA"/>
          </a:solidFill>
          <a:ln w="12700">
            <a:solidFill>
              <a:srgbClr val="ECE6DA"/>
            </a:solidFill>
            <a:prstDash val="solid"/>
          </a:ln>
        </p:spPr>
      </p:sp>
      <p:pic>
        <p:nvPicPr>
          <p:cNvPr id="15" name="Image 2" descr="/Users/elija/Documents/GitHub/BRUNETTICUTZ/workshop/assets/icons/ajustes-morad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7273" y="2272284"/>
            <a:ext cx="210312" cy="21031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527487" y="21488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8383829" y="2770632"/>
            <a:ext cx="29666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800" b="1" spc="-30" kern="0" dirty="0">
                <a:solidFill>
                  <a:srgbClr val="15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Evalúa antes de grabar.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83829" y="3319272"/>
            <a:ext cx="2966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A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criterios, dos minutos, una decisión.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66928" y="4434840"/>
            <a:ext cx="11057839" cy="1005840"/>
          </a:xfrm>
          <a:prstGeom prst="rect">
            <a:avLst/>
          </a:prstGeom>
          <a:solidFill>
            <a:srgbClr val="16111E"/>
          </a:solidFill>
          <a:ln w="12700">
            <a:solidFill>
              <a:srgbClr val="16111E"/>
            </a:solidFill>
            <a:prstDash val="solid"/>
          </a:ln>
        </p:spPr>
      </p:sp>
      <p:pic>
        <p:nvPicPr>
          <p:cNvPr id="20" name="Image 3" descr="/Users/elija/Documents/GitHub/BRUNETTICUTZ/workshop/assets/icons/calendario-lil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6" y="4805172"/>
            <a:ext cx="210312" cy="21031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81328" y="4553712"/>
            <a:ext cx="97776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3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lunes publico un video de ______ con hook de ______.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1481328" y="4992624"/>
            <a:ext cx="97776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dices en voz alta. Eso es lo que hace que se publique.</a:t>
            </a:r>
            <a:endParaRPr lang="en-US" sz="1300" dirty="0"/>
          </a:p>
        </p:txBody>
      </p:sp>
      <p:pic>
        <p:nvPicPr>
          <p:cNvPr id="23" name="Image 4" descr="/Users/elija/Documents/GitHub/BRUNETTICUTZ/workshop/assets/logo-brunetti-morad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6199632"/>
            <a:ext cx="968121" cy="23774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095848" y="6199632"/>
            <a:ext cx="552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ASCENSIÓN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6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lija/Documents/GitHub/BRUNETTICUTZ/workshop/assets/grupo-final-limpi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43891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4773168"/>
            <a:ext cx="11057839" cy="1016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3400" b="1" spc="-90" kern="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vemos</a:t>
            </a:r>
            <a:endParaRPr lang="en-US" sz="3400" dirty="0"/>
          </a:p>
          <a:p>
            <a:pPr algn="l" indent="0" marL="0">
              <a:lnSpc>
                <a:spcPts val="3570"/>
              </a:lnSpc>
              <a:buNone/>
            </a:pPr>
            <a:r>
              <a:rPr lang="en-US" sz="3400" b="1" spc="-90" kern="0" dirty="0">
                <a:solidFill>
                  <a:srgbClr val="8C3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feed.</a:t>
            </a:r>
            <a:endParaRPr lang="en-US" sz="3400" dirty="0"/>
          </a:p>
        </p:txBody>
      </p:sp>
      <p:pic>
        <p:nvPicPr>
          <p:cNvPr id="4" name="Image 1" descr="/Users/elija/Documents/GitHub/BRUNETTICUTZ/workshop/assets/logo-ascension-cla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8279" y="4736592"/>
            <a:ext cx="836488" cy="822960"/>
          </a:xfrm>
          <a:prstGeom prst="rect">
            <a:avLst/>
          </a:prstGeom>
        </p:spPr>
      </p:pic>
      <p:pic>
        <p:nvPicPr>
          <p:cNvPr id="5" name="Image 2" descr="/Users/elija/Documents/GitHub/BRUNETTICUTZ/workshop/assets/logo-brunetti-crem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989320"/>
            <a:ext cx="1191534" cy="292608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4990064" y="5989320"/>
            <a:ext cx="6634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40" kern="0" dirty="0">
                <a:solidFill>
                  <a:srgbClr val="A98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@brunetticutz   ·   brunetticutz.cl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ASCENSIÓN — El barbero que cobra lo que vale</dc:title>
  <dc:subject>Workshop de barberos · 6 horas</dc:subject>
  <dc:creator>Bruno Herrera · Brunetticutz</dc:creator>
  <cp:lastModifiedBy>Bruno Herrera · Brunetticutz</cp:lastModifiedBy>
  <cp:revision>1</cp:revision>
  <dcterms:created xsi:type="dcterms:W3CDTF">2026-08-28T21:02:54Z</dcterms:created>
  <dcterms:modified xsi:type="dcterms:W3CDTF">2026-08-28T21:02:54Z</dcterms:modified>
</cp:coreProperties>
</file>